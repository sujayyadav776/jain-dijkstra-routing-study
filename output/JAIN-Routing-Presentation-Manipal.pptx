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f616311e9954f88" /><Relationship Type="http://schemas.openxmlformats.org/officeDocument/2006/relationships/extended-properties" Target="/docProps/app.xml" Id="R00062066250a4fe2" /><Relationship Type="http://schemas.openxmlformats.org/officeDocument/2006/relationships/officeDocument" Target="/ppt/presentation.xml" Id="R64e8d466cb26407c" /></Relationships>
</file>

<file path=ppt/presentation.xml><?xml version="1.0" encoding="utf-8"?>
<p:presentation xmlns:p="http://schemas.openxmlformats.org/presentationml/2006/main">
  <p:sldMasterIdLst>
    <p:sldMasterId xmlns:r="http://schemas.openxmlformats.org/officeDocument/2006/relationships" id="2147483648" r:id="Rf2187f7e6b4e4fcb"/>
  </p:sldMasterIdLst>
  <p:notesMasterIdLst>
    <p:notesMasterId xmlns:r="http://schemas.openxmlformats.org/officeDocument/2006/relationships" r:id="Rdd18080c7e744c70"/>
  </p:notesMasterIdLst>
  <p:sldIdLst>
    <p:sldId xmlns:r="http://schemas.openxmlformats.org/officeDocument/2006/relationships" id="256" r:id="Rd3968e487c1f4acc"/>
    <p:sldId xmlns:r="http://schemas.openxmlformats.org/officeDocument/2006/relationships" id="257" r:id="R7ec2a3e15d7c41c5"/>
    <p:sldId xmlns:r="http://schemas.openxmlformats.org/officeDocument/2006/relationships" id="258" r:id="R0adb8e475b1f4130"/>
    <p:sldId xmlns:r="http://schemas.openxmlformats.org/officeDocument/2006/relationships" id="259" r:id="R00d0d326de5a427e"/>
    <p:sldId xmlns:r="http://schemas.openxmlformats.org/officeDocument/2006/relationships" id="260" r:id="R6f7bfc9b6f104991"/>
    <p:sldId xmlns:r="http://schemas.openxmlformats.org/officeDocument/2006/relationships" id="261" r:id="Rf9562f3351fa4153"/>
    <p:sldId xmlns:r="http://schemas.openxmlformats.org/officeDocument/2006/relationships" id="262" r:id="R876a982f30e4467d"/>
    <p:sldId xmlns:r="http://schemas.openxmlformats.org/officeDocument/2006/relationships" id="263" r:id="R4b8a6c04e7b74535"/>
    <p:sldId xmlns:r="http://schemas.openxmlformats.org/officeDocument/2006/relationships" id="264" r:id="Re5b61dbc9dd04ad0"/>
    <p:sldId xmlns:r="http://schemas.openxmlformats.org/officeDocument/2006/relationships" id="265" r:id="Rfc8dc5b7844544e1"/>
    <p:sldId xmlns:r="http://schemas.openxmlformats.org/officeDocument/2006/relationships" id="266" r:id="Rf7d6eac6c54e44d8"/>
    <p:sldId xmlns:r="http://schemas.openxmlformats.org/officeDocument/2006/relationships" id="267" r:id="R75eb9bcce72c412f"/>
    <p:sldId xmlns:r="http://schemas.openxmlformats.org/officeDocument/2006/relationships" id="268" r:id="Rf916a9944a1d48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7f37ae4abd45ba" /><Relationship Type="http://schemas.openxmlformats.org/officeDocument/2006/relationships/slideMaster" Target="/ppt/slideMasters/slideMaster1.xml" Id="Rf2187f7e6b4e4fcb" /><Relationship Type="http://schemas.openxmlformats.org/officeDocument/2006/relationships/notesMaster" Target="/ppt/notesMasters/notesMaster1.xml" Id="Rdd18080c7e744c70" /><Relationship Type="http://schemas.openxmlformats.org/officeDocument/2006/relationships/presProps" Target="/ppt/presProps.xml" Id="R77c61663185a4892" /><Relationship Type="http://schemas.openxmlformats.org/officeDocument/2006/relationships/tableStyles" Target="/ppt/tableStyles.xml" Id="Rc806ef76bcbb4e55" /><Relationship Type="http://schemas.openxmlformats.org/officeDocument/2006/relationships/slide" Target="/ppt/slides/slide1.xml" Id="Rd3968e487c1f4acc" /><Relationship Type="http://schemas.openxmlformats.org/officeDocument/2006/relationships/slide" Target="/ppt/slides/slide2.xml" Id="R7ec2a3e15d7c41c5" /><Relationship Type="http://schemas.openxmlformats.org/officeDocument/2006/relationships/slide" Target="/ppt/slides/slide3.xml" Id="R0adb8e475b1f4130" /><Relationship Type="http://schemas.openxmlformats.org/officeDocument/2006/relationships/slide" Target="/ppt/slides/slide4.xml" Id="R00d0d326de5a427e" /><Relationship Type="http://schemas.openxmlformats.org/officeDocument/2006/relationships/slide" Target="/ppt/slides/slide5.xml" Id="R6f7bfc9b6f104991" /><Relationship Type="http://schemas.openxmlformats.org/officeDocument/2006/relationships/slide" Target="/ppt/slides/slide6.xml" Id="Rf9562f3351fa4153" /><Relationship Type="http://schemas.openxmlformats.org/officeDocument/2006/relationships/slide" Target="/ppt/slides/slide7.xml" Id="R876a982f30e4467d" /><Relationship Type="http://schemas.openxmlformats.org/officeDocument/2006/relationships/slide" Target="/ppt/slides/slide8.xml" Id="R4b8a6c04e7b74535" /><Relationship Type="http://schemas.openxmlformats.org/officeDocument/2006/relationships/slide" Target="/ppt/slides/slide9.xml" Id="Re5b61dbc9dd04ad0" /><Relationship Type="http://schemas.openxmlformats.org/officeDocument/2006/relationships/slide" Target="/ppt/slides/slide10.xml" Id="Rfc8dc5b7844544e1" /><Relationship Type="http://schemas.openxmlformats.org/officeDocument/2006/relationships/slide" Target="/ppt/slides/slide11.xml" Id="Rf7d6eac6c54e44d8" /><Relationship Type="http://schemas.openxmlformats.org/officeDocument/2006/relationships/slide" Target="/ppt/slides/slide12.xml" Id="R75eb9bcce72c412f" /><Relationship Type="http://schemas.openxmlformats.org/officeDocument/2006/relationships/slide" Target="/ppt/slides/slide13.xml" Id="Rf916a9944a1d48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d909aaf3c948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81b7ce032c4f68" /><Relationship Type="http://schemas.openxmlformats.org/officeDocument/2006/relationships/notesMaster" Target="/ppt/notesMasters/notesMaster1.xml" Id="Rc8c608f0d27b4c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721867ac6b4896" /><Relationship Type="http://schemas.openxmlformats.org/officeDocument/2006/relationships/notesMaster" Target="/ppt/notesMasters/notesMaster1.xml" Id="R1ee0ad0314bc40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21f4d330be412b" /><Relationship Type="http://schemas.openxmlformats.org/officeDocument/2006/relationships/notesMaster" Target="/ppt/notesMasters/notesMaster1.xml" Id="Rb53919299be746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2986477b1a4fa3" /><Relationship Type="http://schemas.openxmlformats.org/officeDocument/2006/relationships/notesMaster" Target="/ppt/notesMasters/notesMaster1.xml" Id="Ra96e8b6b3f144c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1d195149d64fa6" /><Relationship Type="http://schemas.openxmlformats.org/officeDocument/2006/relationships/notesMaster" Target="/ppt/notesMasters/notesMaster1.xml" Id="R2490a9e5ea6f44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dddfe3753b4fb8" /><Relationship Type="http://schemas.openxmlformats.org/officeDocument/2006/relationships/notesMaster" Target="/ppt/notesMasters/notesMaster1.xml" Id="Raad8fcf415084d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3620d52aea4a51" /><Relationship Type="http://schemas.openxmlformats.org/officeDocument/2006/relationships/notesMaster" Target="/ppt/notesMasters/notesMaster1.xml" Id="Ra8f0fbfa1e684b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acfb7b2ff045b6" /><Relationship Type="http://schemas.openxmlformats.org/officeDocument/2006/relationships/notesMaster" Target="/ppt/notesMasters/notesMaster1.xml" Id="Ra73efc51633d44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7a2c603157489f" /><Relationship Type="http://schemas.openxmlformats.org/officeDocument/2006/relationships/notesMaster" Target="/ppt/notesMasters/notesMaster1.xml" Id="R76512ae9dd3f47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f11149c5264ac2" /><Relationship Type="http://schemas.openxmlformats.org/officeDocument/2006/relationships/notesMaster" Target="/ppt/notesMasters/notesMaster1.xml" Id="R65a2bb218e7248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33a365cb0f4baa" /><Relationship Type="http://schemas.openxmlformats.org/officeDocument/2006/relationships/notesMaster" Target="/ppt/notesMasters/notesMaster1.xml" Id="Rcbf15b0920fe49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af20b3b01c4b1f" /><Relationship Type="http://schemas.openxmlformats.org/officeDocument/2006/relationships/notesMaster" Target="/ppt/notesMasters/notesMaster1.xml" Id="R6803bb3cdb3144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ecfafeebb541cf" /><Relationship Type="http://schemas.openxmlformats.org/officeDocument/2006/relationships/notesMaster" Target="/ppt/notesMasters/notesMaster1.xml" Id="R876744614f4b41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Campus address: https://www.jainuniversity.ac.in/contact/top-indian-university-with-best-colleges-with-location-maps. Introduce a fictional campus-to-hospital routing task. This is an educational model; there is no clinical survival deadline or outcome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Location source: OpenStreetMap/Nominatim. Exact object IDs, mapped coordinates, road-snapped coordinates and source URLs are in data/locations.csv. Diagram is schematic. Edges are pre-routed corridors; crossings do not create extra nodes. https://project-osrm.org/docs/v26.6.1/http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OSRM public endpoint returned car-profile routes with weight_name=routability. https://project-osrm.org/docs/v26.6.1/http. Its exact server build, source extract date and profile configuration were not reported. Node L road snap is approximately 200 m from its mapped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from data/trace_C_distance.csv, computed by dijkstra.py. Cost unit: metres. Stop only when C is settled. Dijkstra has 338 independent Floyd-Warshall all-pair/objective comparisons plus boundary checks. NetworkX was unavailable and is not claimed 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data/results.csv; Google Maps browser observations in data/google_maps.csv. https://project-osrm.org/docs/v26.6.1/http. Teaching values minimize distance over the selected corridor graph; OSRM reference is the profile-selected direct road route. Google is its recommended route snapshot, not a minimum-distance ground truth. Data captured 17 October 2026. B excluded for endpoint ambiguity.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task J in data/results.csv. All durations are static OSRM-profile estimates. https://project-osrm.org/docs/v26.6.1/http. This comparison proves an objective difference within the supplied graph, not faster real-world emergency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data/scenarios.csv. Both BC arcs are removed in the unavailability scenario. Delay multiplies their duration by 3 and preserves distance. These are designed graph experiments, not real traffic observations. Overlapping underlying corridors are not comprehensively rerouted.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Google Maps: data/google_maps.csv; each observation includes its route URL and UTC timestamp. Values are the first recommended driving route with Leave now, read in the browser. Recommended can differ from the lowest displayed alternative ETA. Source snapping metadata is in locations.csv. https://project-osrm.org/docs/v26.6.1/http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secondary source, 9 December 2020: https://timesofindia.indiatimes.com/city/bengaluru/karnataka-108-ambulance-service-failed-to-provide-service-within-golden-hour-in-50-trauma-cases-says-cag/articleshow/79648476.cms. It reports CAG findings for 2014-15 to 2018-19, including 20 min urban and 30 min rural mean targets, and 72% within 30 min under the audit analysis. Primary CAG document was not independently obtained. NHS historical definitions: https://www.england.nhs.uk/statistics/wp-content/uploads/sites/2/2022/07/20220725-AmbSYS-specification.pdf, 25 July 2022. These are context, not current Bengaluru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human measurements have been supplied. Tasks C, D and L are primary hospital destinations; J is an optional objective-comparison task. Use data/human_input.csv or the explorer. Do not report fabricated participant outcomes. Timed-out/invalid routes must be recorded explicitly.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session plan in the report. Provide map extracts, graph weights, starter files and human recording forms before the session. A beginning class can use partial code; implementing from scratch may require additional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 computational graph study, source records, manual traces, local timings, Google Maps snapshots and controlled scenarios. Pending: actual human choices/times, participant reflection, field photographs and measured drives. Do not infer hospital suitability or clinical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branch: https://www.manipalhospitals.com/jayanagar/contact-us/. Mapped feature: https://www.openstreetmap.org/way/632086875. Coordinates and OSRM extension collected 20 October 2026; original road costs retained. Google snapshot 20 October 2026 at 21:35 IST uses an elevated flyover; entrance/road-level access not independently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2806a0f39049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865b27c4454a1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182b038ffa490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cee1f1da9449f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27c387fa334a7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9a412549aa43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559936-AB09-452D-8AE4-267ED020BE9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40C350C-6D34-48EF-8542-028B4581CD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B52B11-702B-4912-AA10-40BBF375529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DB6EB0-C1FD-42BD-87DC-9A1ACE5564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E6151DE-BF33-4D8A-A708-495B6D2F425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67DD240-2150-41CF-A966-D11C5BEAFC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751545-DF88-44AB-A634-A9D36984FB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CF759AF-BDCE-4EAA-94B4-24ECBC00E14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AF1489-5E53-4EF5-94BA-A97B1DFB94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AF72B5-54D5-475D-8433-7EDE97E114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fc7195736d4cb4" /><Relationship Type="http://schemas.openxmlformats.org/officeDocument/2006/relationships/slideLayout" Target="/ppt/slideLayouts/slideLayout1.xml" Id="R58abfcebab2f4427" /><Relationship Type="http://schemas.openxmlformats.org/officeDocument/2006/relationships/slideLayout" Target="/ppt/slideLayouts/slideLayout2.xml" Id="Rf1d4039701634bde" /><Relationship Type="http://schemas.openxmlformats.org/officeDocument/2006/relationships/slideLayout" Target="/ppt/slideLayouts/slideLayout3.xml" Id="Rf4e7987aa05d4b64" /><Relationship Type="http://schemas.openxmlformats.org/officeDocument/2006/relationships/slideLayout" Target="/ppt/slideLayouts/slideLayout4.xml" Id="Rc0b70a510e354006" /><Relationship Type="http://schemas.openxmlformats.org/officeDocument/2006/relationships/slideLayout" Target="/ppt/slideLayouts/slideLayout5.xml" Id="R7f1c6f9bfc0041a8" /><Relationship Type="http://schemas.openxmlformats.org/officeDocument/2006/relationships/slideLayout" Target="/ppt/slideLayouts/slideLayout6.xml" Id="R25a45c14eee64a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abfcebab2f4427"/>
    <p:sldLayoutId xmlns:r="http://schemas.openxmlformats.org/officeDocument/2006/relationships" id="2147483650" r:id="Rf1d4039701634bde"/>
    <p:sldLayoutId xmlns:r="http://schemas.openxmlformats.org/officeDocument/2006/relationships" id="2147483651" r:id="Rf4e7987aa05d4b64"/>
    <p:sldLayoutId xmlns:r="http://schemas.openxmlformats.org/officeDocument/2006/relationships" id="2147483652" r:id="Rc0b70a510e354006"/>
    <p:sldLayoutId xmlns:r="http://schemas.openxmlformats.org/officeDocument/2006/relationships" id="2147483653" r:id="R7f1c6f9bfc0041a8"/>
    <p:sldLayoutId xmlns:r="http://schemas.openxmlformats.org/officeDocument/2006/relationships" id="2147483654" r:id="R25a45c14eee64a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a21ddeffbd444e" /><Relationship Type="http://schemas.openxmlformats.org/officeDocument/2006/relationships/notesSlide" Target="/ppt/notesSlides/notesSlide1.xml" Id="R83b6a3a0409447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e8fea811a50496c" /><Relationship Type="http://schemas.openxmlformats.org/officeDocument/2006/relationships/notesSlide" Target="/ppt/notesSlides/notesSlide2.xml" Id="Rda24094372bf44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4b2e631c0324db0" /><Relationship Type="http://schemas.openxmlformats.org/officeDocument/2006/relationships/notesSlide" Target="/ppt/notesSlides/notesSlide3.xml" Id="R4e98277327ca4f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e29601b040c4296" /><Relationship Type="http://schemas.openxmlformats.org/officeDocument/2006/relationships/notesSlide" Target="/ppt/notesSlides/notesSlide4.xml" Id="Ra26ff2ef1f9145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dc4d69900cf4cb1" /><Relationship Type="http://schemas.openxmlformats.org/officeDocument/2006/relationships/chart" Target="/ppt/slides/charts/chart1.xml" Id="Ra4f554fb22a54aac" /><Relationship Type="http://schemas.openxmlformats.org/officeDocument/2006/relationships/notesSlide" Target="/ppt/notesSlides/notesSlide5.xml" Id="Rdf8e1da436c044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5100ead23c447cd" /><Relationship Type="http://schemas.openxmlformats.org/officeDocument/2006/relationships/notesSlide" Target="/ppt/notesSlides/notesSlide6.xml" Id="Rbc2751cee30d4a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633e42137a04e5b" /><Relationship Type="http://schemas.openxmlformats.org/officeDocument/2006/relationships/notesSlide" Target="/ppt/notesSlides/notesSlide7.xml" Id="Rb56ecd5dc26042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d4decc358164ff1" /><Relationship Type="http://schemas.openxmlformats.org/officeDocument/2006/relationships/notesSlide" Target="/ppt/notesSlides/notesSlide8.xml" Id="Rf6cbaf04d9ee49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6b4705b02204d2c" /><Relationship Type="http://schemas.openxmlformats.org/officeDocument/2006/relationships/notesSlide" Target="/ppt/notesSlides/notesSlide9.xml" Id="R6ad681e06c0549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6f25d4541984aff" /><Relationship Type="http://schemas.openxmlformats.org/officeDocument/2006/relationships/notesSlide" Target="/ppt/notesSlides/notesSlide10.xml" Id="R1af318b51b5240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3164edfceef49f0" /><Relationship Type="http://schemas.openxmlformats.org/officeDocument/2006/relationships/notesSlide" Target="/ppt/notesSlides/notesSlide11.xml" Id="R3a08a33b064742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0f89f08f1404020" /><Relationship Type="http://schemas.openxmlformats.org/officeDocument/2006/relationships/notesSlide" Target="/ppt/notesSlides/notesSlide12.xml" Id="R9b1b5ff9365f40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f9d6f2dca994546" /><Relationship Type="http://schemas.openxmlformats.org/officeDocument/2006/relationships/notesSlide" Target="/ppt/notesSlides/notesSlide13.xml" Id="R18dc719ec9a6499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Teaching graph</c:v>
          </c:tx>
          <c:spPr>
            <a:solidFill xmlns:a="http://schemas.openxmlformats.org/drawingml/2006/main">
              <a:srgbClr val="00685D"/>
            </a:solidFill>
          </c:spPr>
          <c:invertIfNegative val="0"/>
          <c:cat>
            <c:strRef>
              <c:f>'Chart Data'!$A$2:$A$5</c:f>
              <c:strCache>
                <c:ptCount val="4"/>
                <c:pt idx="0">
                  <c:v>C · Jayadeva</c:v>
                </c:pt>
                <c:pt idx="1">
                  <c:v>D · Sagar</c:v>
                </c:pt>
                <c:pt idx="2">
                  <c:v>J · Gopalan</c:v>
                </c:pt>
                <c:pt idx="3">
                  <c:v>L · NIMHANS</c:v>
                </c:pt>
              </c:strCache>
            </c:strRef>
          </c:cat>
          <c:val>
            <c:numRef>
              <c:f>'Chart Data'!$B$2:$B$5</c:f>
              <c:numCache>
                <c:formatCode>0.0</c:formatCode>
                <c:ptCount val="4"/>
                <c:pt idx="0">
                  <c:v>1.497</c:v>
                </c:pt>
                <c:pt idx="1">
                  <c:v>2.695</c:v>
                </c:pt>
                <c:pt idx="2">
                  <c:v>1.8473</c:v>
                </c:pt>
                <c:pt idx="3">
                  <c:v>4.6079</c:v>
                </c:pt>
              </c:numCache>
            </c:numRef>
          </c:val>
        </c:ser>
        <c:ser>
          <c:idx val="1"/>
          <c:order val="1"/>
          <c:tx>
            <c:v>OSRM direct</c:v>
          </c:tx>
          <c:spPr>
            <a:solidFill xmlns:a="http://schemas.openxmlformats.org/drawingml/2006/main">
              <a:srgbClr val="8FA6A0"/>
            </a:solidFill>
          </c:spPr>
          <c:invertIfNegative val="0"/>
          <c:cat>
            <c:strRef>
              <c:f>'Chart Data'!$C$2:$C$5</c:f>
              <c:strCache>
                <c:ptCount val="4"/>
                <c:pt idx="0">
                  <c:v>C · Jayadeva</c:v>
                </c:pt>
                <c:pt idx="1">
                  <c:v>D · Sagar</c:v>
                </c:pt>
                <c:pt idx="2">
                  <c:v>J · Gopalan</c:v>
                </c:pt>
                <c:pt idx="3">
                  <c:v>L · NIMHANS</c:v>
                </c:pt>
              </c:strCache>
            </c:strRef>
          </c:cat>
          <c:val>
            <c:numRef>
              <c:f>'Chart Data'!$D$2:$D$5</c:f>
              <c:numCache>
                <c:formatCode>0.0</c:formatCode>
                <c:ptCount val="4"/>
                <c:pt idx="0">
                  <c:v>1.0842</c:v>
                </c:pt>
                <c:pt idx="1">
                  <c:v>2.2823</c:v>
                </c:pt>
                <c:pt idx="2">
                  <c:v>1.5736</c:v>
                </c:pt>
                <c:pt idx="3">
                  <c:v>2.4961</c:v>
                </c:pt>
              </c:numCache>
            </c:numRef>
          </c:val>
        </c:ser>
        <c:ser>
          <c:idx val="2"/>
          <c:order val="2"/>
          <c:tx>
            <c:v>Google snapshot</c:v>
          </c:tx>
          <c:spPr>
            <a:solidFill xmlns:a="http://schemas.openxmlformats.org/drawingml/2006/main">
              <a:srgbClr val="B85E2F"/>
            </a:solidFill>
          </c:spPr>
          <c:invertIfNegative val="0"/>
          <c:cat>
            <c:strRef>
              <c:f>'Chart Data'!$E$2:$E$5</c:f>
              <c:strCache>
                <c:ptCount val="4"/>
                <c:pt idx="0">
                  <c:v>C · Jayadeva</c:v>
                </c:pt>
                <c:pt idx="1">
                  <c:v>D · Sagar</c:v>
                </c:pt>
                <c:pt idx="2">
                  <c:v>J · Gopalan</c:v>
                </c:pt>
                <c:pt idx="3">
                  <c:v>L · NIMHANS</c:v>
                </c:pt>
              </c:strCache>
            </c:strRef>
          </c:cat>
          <c:val>
            <c:numRef>
              <c:f>'Chart Data'!$F$2:$F$5</c:f>
              <c:numCache>
                <c:formatCode>0.0</c:formatCode>
                <c:ptCount val="4"/>
                <c:pt idx="0">
                  <c:v>1.1</c:v>
                </c:pt>
                <c:pt idx="1">
                  <c:v>2.1</c:v>
                </c:pt>
                <c:pt idx="2">
                  <c:v>1.6</c:v>
                </c:pt>
                <c:pt idx="3">
                  <c:v>2.6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00">
                  <a:latin typeface="Arial"/>
                  <a:ea typeface="Arial"/>
                  <a:cs typeface="Arial"/>
                </a:defRPr>
              </a:pPr>
            </a:p>
          </c:txPr>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sz="1500">
                    <a:latin typeface="Arial"/>
                    <a:ea typeface="Arial"/>
                    <a:cs typeface="Arial"/>
                  </a:rPr>
                  <a:t>Distance (km)</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400443-FCAF-4A87-9543-9F736D0892D4}"/>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Every Minute Counts</a:t>
            </a:r>
          </a:p>
        </p:txBody>
      </p:sp>
      <p:sp>
        <p:nvSpPr>
          <p:cNvPr id="2" name="">
            <a:extLst xmlns:a="http://schemas.openxmlformats.org/drawingml/2006/main">
              <a:ext uri="{FF2B5EF4-FFF2-40B4-BE49-F238E27FC236}">
                <a16:creationId xmlns:a16="http://schemas.microsoft.com/office/drawing/2014/main" id="{6AD09919-5F67-4708-A55D-D72FA78A4659}"/>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A7903908-68C9-4928-AF58-6B46B46E37C5}"/>
              </a:ext>
            </a:extLst>
          </p:cNvPr>
          <p:cNvSpPr>
            <a:spLocks xmlns:a="http://schemas.openxmlformats.org/drawingml/2006/main" noGrp="1"/>
          </p:cNvSpPr>
          <p:nvPr/>
        </p:nvSpPr>
        <p:spPr>
          <a:xfrm xmlns:a="http://schemas.openxmlformats.org/drawingml/2006/main">
            <a:off x="666750" y="2047875"/>
            <a:ext cx="1028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00685D"/>
                </a:solidFill>
                <a:latin typeface="Arial"/>
                <a:ea typeface="Arial"/>
                <a:cs typeface="Arial"/>
              </a:defRPr>
            </a:defPPr>
            <a:lvl1pPr>
              <a:defRPr sz="4350" b="1">
                <a:solidFill>
                  <a:srgbClr val="00685D"/>
                </a:solidFill>
                <a:latin typeface="Arial"/>
                <a:ea typeface="Arial"/>
                <a:cs typeface="Arial"/>
              </a:defRPr>
            </a:lvl1pPr>
            <a:lvl2pPr>
              <a:defRPr sz="4350" b="1">
                <a:solidFill>
                  <a:srgbClr val="00685D"/>
                </a:solidFill>
                <a:latin typeface="Arial"/>
                <a:ea typeface="Arial"/>
                <a:cs typeface="Arial"/>
              </a:defRPr>
            </a:lvl2pPr>
            <a:lvl3pPr>
              <a:defRPr sz="4350" b="1">
                <a:solidFill>
                  <a:srgbClr val="00685D"/>
                </a:solidFill>
                <a:latin typeface="Arial"/>
                <a:ea typeface="Arial"/>
                <a:cs typeface="Arial"/>
              </a:defRPr>
            </a:lvl3pPr>
            <a:lvl4pPr>
              <a:defRPr sz="4350" b="1">
                <a:solidFill>
                  <a:srgbClr val="00685D"/>
                </a:solidFill>
                <a:latin typeface="Arial"/>
                <a:ea typeface="Arial"/>
                <a:cs typeface="Arial"/>
              </a:defRPr>
            </a:lvl4pPr>
            <a:lvl5pPr>
              <a:defRPr sz="4350" b="1">
                <a:solidFill>
                  <a:srgbClr val="00685D"/>
                </a:solidFill>
                <a:latin typeface="Arial"/>
                <a:ea typeface="Arial"/>
                <a:cs typeface="Arial"/>
              </a:defRPr>
            </a:lvl5pPr>
            <a:lvl6pPr>
              <a:defRPr sz="4350" b="1">
                <a:solidFill>
                  <a:srgbClr val="00685D"/>
                </a:solidFill>
                <a:latin typeface="Arial"/>
                <a:ea typeface="Arial"/>
                <a:cs typeface="Arial"/>
              </a:defRPr>
            </a:lvl6pPr>
            <a:lvl7pPr>
              <a:defRPr sz="4350" b="1">
                <a:solidFill>
                  <a:srgbClr val="00685D"/>
                </a:solidFill>
                <a:latin typeface="Arial"/>
                <a:ea typeface="Arial"/>
                <a:cs typeface="Arial"/>
              </a:defRPr>
            </a:lvl7pPr>
            <a:lvl8pPr>
              <a:defRPr sz="4350" b="1">
                <a:solidFill>
                  <a:srgbClr val="00685D"/>
                </a:solidFill>
                <a:latin typeface="Arial"/>
                <a:ea typeface="Arial"/>
                <a:cs typeface="Arial"/>
              </a:defRPr>
            </a:lvl8pPr>
            <a:lvl9pPr>
              <a:defRPr sz="4350" b="1">
                <a:solidFill>
                  <a:srgbClr val="00685D"/>
                </a:solidFill>
                <a:latin typeface="Arial"/>
                <a:ea typeface="Arial"/>
                <a:cs typeface="Arial"/>
              </a:defRPr>
            </a:lvl9pPr>
          </a:lstStyle>
          <a:p xmlns:a="http://schemas.openxmlformats.org/drawingml/2006/main">
            <a:pPr>
              <a:defRPr sz="4350" b="1">
                <a:solidFill>
                  <a:srgbClr val="00685D"/>
                </a:solidFill>
                <a:latin typeface="Arial"/>
                <a:ea typeface="Arial"/>
                <a:cs typeface="Arial"/>
              </a:defRPr>
            </a:pPr>
            <a:r>
              <a:rPr sz="4350" b="1">
                <a:solidFill>
                  <a:srgbClr val="00685D"/>
                </a:solidFill>
                <a:latin typeface="Arial"/>
                <a:ea typeface="Arial"/>
                <a:cs typeface="Arial"/>
              </a:rPr>
              <a:t>Dijkstra's algorithm around JAIN University</a:t>
            </a:r>
          </a:p>
        </p:txBody>
      </p:sp>
      <p:sp>
        <p:nvSpPr>
          <p:cNvPr id="4" name="">
            <a:extLst xmlns:a="http://schemas.openxmlformats.org/drawingml/2006/main">
              <a:ext uri="{FF2B5EF4-FFF2-40B4-BE49-F238E27FC236}">
                <a16:creationId xmlns:a16="http://schemas.microsoft.com/office/drawing/2014/main" id="{E9430013-0ED3-4579-8F70-BEE0E1C3A6F8}"/>
              </a:ext>
            </a:extLst>
          </p:cNvPr>
          <p:cNvSpPr>
            <a:spLocks xmlns:a="http://schemas.openxmlformats.org/drawingml/2006/main" noGrp="1"/>
          </p:cNvSpPr>
          <p:nvPr/>
        </p:nvSpPr>
        <p:spPr>
          <a:xfrm xmlns:a="http://schemas.openxmlformats.org/drawingml/2006/main">
            <a:off x="704850" y="357187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B33"/>
                </a:solidFill>
                <a:latin typeface="Arial"/>
                <a:ea typeface="Arial"/>
                <a:cs typeface="Arial"/>
              </a:defRPr>
            </a:defPPr>
            <a:lvl1pPr>
              <a:defRPr sz="2400" b="0">
                <a:solidFill>
                  <a:srgbClr val="142B33"/>
                </a:solidFill>
                <a:latin typeface="Arial"/>
                <a:ea typeface="Arial"/>
                <a:cs typeface="Arial"/>
              </a:defRPr>
            </a:lvl1pPr>
            <a:lvl2pPr>
              <a:defRPr sz="2400" b="0">
                <a:solidFill>
                  <a:srgbClr val="142B33"/>
                </a:solidFill>
                <a:latin typeface="Arial"/>
                <a:ea typeface="Arial"/>
                <a:cs typeface="Arial"/>
              </a:defRPr>
            </a:lvl2pPr>
            <a:lvl3pPr>
              <a:defRPr sz="2400" b="0">
                <a:solidFill>
                  <a:srgbClr val="142B33"/>
                </a:solidFill>
                <a:latin typeface="Arial"/>
                <a:ea typeface="Arial"/>
                <a:cs typeface="Arial"/>
              </a:defRPr>
            </a:lvl3pPr>
            <a:lvl4pPr>
              <a:defRPr sz="2400" b="0">
                <a:solidFill>
                  <a:srgbClr val="142B33"/>
                </a:solidFill>
                <a:latin typeface="Arial"/>
                <a:ea typeface="Arial"/>
                <a:cs typeface="Arial"/>
              </a:defRPr>
            </a:lvl4pPr>
            <a:lvl5pPr>
              <a:defRPr sz="2400" b="0">
                <a:solidFill>
                  <a:srgbClr val="142B33"/>
                </a:solidFill>
                <a:latin typeface="Arial"/>
                <a:ea typeface="Arial"/>
                <a:cs typeface="Arial"/>
              </a:defRPr>
            </a:lvl5pPr>
            <a:lvl6pPr>
              <a:defRPr sz="2400" b="0">
                <a:solidFill>
                  <a:srgbClr val="142B33"/>
                </a:solidFill>
                <a:latin typeface="Arial"/>
                <a:ea typeface="Arial"/>
                <a:cs typeface="Arial"/>
              </a:defRPr>
            </a:lvl6pPr>
            <a:lvl7pPr>
              <a:defRPr sz="2400" b="0">
                <a:solidFill>
                  <a:srgbClr val="142B33"/>
                </a:solidFill>
                <a:latin typeface="Arial"/>
                <a:ea typeface="Arial"/>
                <a:cs typeface="Arial"/>
              </a:defRPr>
            </a:lvl7pPr>
            <a:lvl8pPr>
              <a:defRPr sz="2400" b="0">
                <a:solidFill>
                  <a:srgbClr val="142B33"/>
                </a:solidFill>
                <a:latin typeface="Arial"/>
                <a:ea typeface="Arial"/>
                <a:cs typeface="Arial"/>
              </a:defRPr>
            </a:lvl8pPr>
            <a:lvl9pPr>
              <a:defRPr sz="2400" b="0">
                <a:solidFill>
                  <a:srgbClr val="142B33"/>
                </a:solidFill>
                <a:latin typeface="Arial"/>
                <a:ea typeface="Arial"/>
                <a:cs typeface="Arial"/>
              </a:defRPr>
            </a:lvl9pPr>
          </a:lstStyle>
          <a:p xmlns:a="http://schemas.openxmlformats.org/drawingml/2006/main">
            <a:pPr>
              <a:defRPr sz="2400" b="0">
                <a:solidFill>
                  <a:srgbClr val="142B33"/>
                </a:solidFill>
                <a:latin typeface="Arial"/>
                <a:ea typeface="Arial"/>
                <a:cs typeface="Arial"/>
              </a:defRPr>
            </a:pPr>
            <a:r>
              <a:rPr sz="2400" b="0">
                <a:solidFill>
                  <a:srgbClr val="142B33"/>
                </a:solidFill>
                <a:latin typeface="Arial"/>
                <a:ea typeface="Arial"/>
                <a:cs typeface="Arial"/>
              </a:rPr>
              <a:t>District Fund Road, Jayanagar, Bengaluru</a:t>
            </a:r>
          </a:p>
        </p:txBody>
      </p:sp>
      <p:sp>
        <p:nvSpPr>
          <p:cNvPr id="5" name="">
            <a:extLst xmlns:a="http://schemas.openxmlformats.org/drawingml/2006/main">
              <a:ext uri="{FF2B5EF4-FFF2-40B4-BE49-F238E27FC236}">
                <a16:creationId xmlns:a16="http://schemas.microsoft.com/office/drawing/2014/main" id="{53C1DEEF-5B1D-4980-94A2-CC8D10C4D590}"/>
              </a:ext>
            </a:extLst>
          </p:cNvPr>
          <p:cNvSpPr>
            <a:spLocks xmlns:a="http://schemas.openxmlformats.org/drawingml/2006/main" noGrp="1"/>
          </p:cNvSpPr>
          <p:nvPr/>
        </p:nvSpPr>
        <p:spPr>
          <a:xfrm xmlns:a="http://schemas.openxmlformats.org/drawingml/2006/main">
            <a:off x="704850" y="461962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B33"/>
                </a:solidFill>
                <a:latin typeface="Arial"/>
                <a:ea typeface="Arial"/>
                <a:cs typeface="Arial"/>
              </a:defRPr>
            </a:defPPr>
            <a:lvl1pPr>
              <a:defRPr sz="2250" b="0">
                <a:solidFill>
                  <a:srgbClr val="142B33"/>
                </a:solidFill>
                <a:latin typeface="Arial"/>
                <a:ea typeface="Arial"/>
                <a:cs typeface="Arial"/>
              </a:defRPr>
            </a:lvl1pPr>
            <a:lvl2pPr>
              <a:defRPr sz="2250" b="0">
                <a:solidFill>
                  <a:srgbClr val="142B33"/>
                </a:solidFill>
                <a:latin typeface="Arial"/>
                <a:ea typeface="Arial"/>
                <a:cs typeface="Arial"/>
              </a:defRPr>
            </a:lvl2pPr>
            <a:lvl3pPr>
              <a:defRPr sz="2250" b="0">
                <a:solidFill>
                  <a:srgbClr val="142B33"/>
                </a:solidFill>
                <a:latin typeface="Arial"/>
                <a:ea typeface="Arial"/>
                <a:cs typeface="Arial"/>
              </a:defRPr>
            </a:lvl3pPr>
            <a:lvl4pPr>
              <a:defRPr sz="2250" b="0">
                <a:solidFill>
                  <a:srgbClr val="142B33"/>
                </a:solidFill>
                <a:latin typeface="Arial"/>
                <a:ea typeface="Arial"/>
                <a:cs typeface="Arial"/>
              </a:defRPr>
            </a:lvl4pPr>
            <a:lvl5pPr>
              <a:defRPr sz="2250" b="0">
                <a:solidFill>
                  <a:srgbClr val="142B33"/>
                </a:solidFill>
                <a:latin typeface="Arial"/>
                <a:ea typeface="Arial"/>
                <a:cs typeface="Arial"/>
              </a:defRPr>
            </a:lvl5pPr>
            <a:lvl6pPr>
              <a:defRPr sz="2250" b="0">
                <a:solidFill>
                  <a:srgbClr val="142B33"/>
                </a:solidFill>
                <a:latin typeface="Arial"/>
                <a:ea typeface="Arial"/>
                <a:cs typeface="Arial"/>
              </a:defRPr>
            </a:lvl6pPr>
            <a:lvl7pPr>
              <a:defRPr sz="2250" b="0">
                <a:solidFill>
                  <a:srgbClr val="142B33"/>
                </a:solidFill>
                <a:latin typeface="Arial"/>
                <a:ea typeface="Arial"/>
                <a:cs typeface="Arial"/>
              </a:defRPr>
            </a:lvl7pPr>
            <a:lvl8pPr>
              <a:defRPr sz="2250" b="0">
                <a:solidFill>
                  <a:srgbClr val="142B33"/>
                </a:solidFill>
                <a:latin typeface="Arial"/>
                <a:ea typeface="Arial"/>
                <a:cs typeface="Arial"/>
              </a:defRPr>
            </a:lvl8pPr>
            <a:lvl9pPr>
              <a:defRPr sz="2250" b="0">
                <a:solidFill>
                  <a:srgbClr val="142B33"/>
                </a:solidFill>
                <a:latin typeface="Arial"/>
                <a:ea typeface="Arial"/>
                <a:cs typeface="Arial"/>
              </a:defRPr>
            </a:lvl9pPr>
          </a:lstStyle>
          <a:p xmlns:a="http://schemas.openxmlformats.org/drawingml/2006/main">
            <a:pPr>
              <a:defRPr sz="2250" b="0">
                <a:solidFill>
                  <a:srgbClr val="142B33"/>
                </a:solidFill>
                <a:latin typeface="Arial"/>
                <a:ea typeface="Arial"/>
                <a:cs typeface="Arial"/>
              </a:defRPr>
            </a:pPr>
            <a:r>
              <a:rPr sz="2250" b="0">
                <a:solidFill>
                  <a:srgbClr val="142B33"/>
                </a:solidFill>
                <a:latin typeface="Arial"/>
                <a:ea typeface="Arial"/>
                <a:cs typeface="Arial"/>
              </a:rPr>
              <a:t>13 locations · 25 corridors · 2 routing objectives</a:t>
            </a:r>
          </a:p>
        </p:txBody>
      </p:sp>
      <p:sp>
        <p:nvSpPr>
          <p:cNvPr id="6" name="">
            <a:extLst xmlns:a="http://schemas.openxmlformats.org/drawingml/2006/main">
              <a:ext uri="{FF2B5EF4-FFF2-40B4-BE49-F238E27FC236}">
                <a16:creationId xmlns:a16="http://schemas.microsoft.com/office/drawing/2014/main" id="{84D48B3F-9E9E-4C76-A2B6-90AE400FD066}"/>
              </a:ext>
            </a:extLst>
          </p:cNvPr>
          <p:cNvSpPr>
            <a:spLocks xmlns:a="http://schemas.openxmlformats.org/drawingml/2006/main" noGrp="1"/>
          </p:cNvSpPr>
          <p:nvPr/>
        </p:nvSpPr>
        <p:spPr>
          <a:xfrm xmlns:a="http://schemas.openxmlformats.org/drawingml/2006/main">
            <a:off x="704850"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36A"/>
                </a:solidFill>
                <a:latin typeface="Arial"/>
                <a:ea typeface="Arial"/>
                <a:cs typeface="Arial"/>
              </a:defRPr>
            </a:defPPr>
            <a:lvl1pPr>
              <a:defRPr sz="1725" b="0">
                <a:solidFill>
                  <a:srgbClr val="53636A"/>
                </a:solidFill>
                <a:latin typeface="Arial"/>
                <a:ea typeface="Arial"/>
                <a:cs typeface="Arial"/>
              </a:defRPr>
            </a:lvl1pPr>
            <a:lvl2pPr>
              <a:defRPr sz="1725" b="0">
                <a:solidFill>
                  <a:srgbClr val="53636A"/>
                </a:solidFill>
                <a:latin typeface="Arial"/>
                <a:ea typeface="Arial"/>
                <a:cs typeface="Arial"/>
              </a:defRPr>
            </a:lvl2pPr>
            <a:lvl3pPr>
              <a:defRPr sz="1725" b="0">
                <a:solidFill>
                  <a:srgbClr val="53636A"/>
                </a:solidFill>
                <a:latin typeface="Arial"/>
                <a:ea typeface="Arial"/>
                <a:cs typeface="Arial"/>
              </a:defRPr>
            </a:lvl3pPr>
            <a:lvl4pPr>
              <a:defRPr sz="1725" b="0">
                <a:solidFill>
                  <a:srgbClr val="53636A"/>
                </a:solidFill>
                <a:latin typeface="Arial"/>
                <a:ea typeface="Arial"/>
                <a:cs typeface="Arial"/>
              </a:defRPr>
            </a:lvl4pPr>
            <a:lvl5pPr>
              <a:defRPr sz="1725" b="0">
                <a:solidFill>
                  <a:srgbClr val="53636A"/>
                </a:solidFill>
                <a:latin typeface="Arial"/>
                <a:ea typeface="Arial"/>
                <a:cs typeface="Arial"/>
              </a:defRPr>
            </a:lvl5pPr>
            <a:lvl6pPr>
              <a:defRPr sz="1725" b="0">
                <a:solidFill>
                  <a:srgbClr val="53636A"/>
                </a:solidFill>
                <a:latin typeface="Arial"/>
                <a:ea typeface="Arial"/>
                <a:cs typeface="Arial"/>
              </a:defRPr>
            </a:lvl6pPr>
            <a:lvl7pPr>
              <a:defRPr sz="1725" b="0">
                <a:solidFill>
                  <a:srgbClr val="53636A"/>
                </a:solidFill>
                <a:latin typeface="Arial"/>
                <a:ea typeface="Arial"/>
                <a:cs typeface="Arial"/>
              </a:defRPr>
            </a:lvl7pPr>
            <a:lvl8pPr>
              <a:defRPr sz="1725" b="0">
                <a:solidFill>
                  <a:srgbClr val="53636A"/>
                </a:solidFill>
                <a:latin typeface="Arial"/>
                <a:ea typeface="Arial"/>
                <a:cs typeface="Arial"/>
              </a:defRPr>
            </a:lvl8pPr>
            <a:lvl9pPr>
              <a:defRPr sz="1725" b="0">
                <a:solidFill>
                  <a:srgbClr val="53636A"/>
                </a:solidFill>
                <a:latin typeface="Arial"/>
                <a:ea typeface="Arial"/>
                <a:cs typeface="Arial"/>
              </a:defRPr>
            </a:lvl9pPr>
          </a:lstStyle>
          <a:p xmlns:a="http://schemas.openxmlformats.org/drawingml/2006/main">
            <a:pPr>
              <a:defRPr sz="1725" b="0">
                <a:solidFill>
                  <a:srgbClr val="53636A"/>
                </a:solidFill>
                <a:latin typeface="Arial"/>
                <a:ea typeface="Arial"/>
                <a:cs typeface="Arial"/>
              </a:defRPr>
            </a:pPr>
            <a:r>
              <a:rPr sz="1725" b="0">
                <a:solidFill>
                  <a:srgbClr val="53636A"/>
                </a:solidFill>
                <a:latin typeface="Arial"/>
                <a:ea typeface="Arial"/>
                <a:cs typeface="Arial"/>
              </a:rPr>
              <a:t>Original data 17 October; Manipal added 20 October 2026.</a:t>
            </a:r>
          </a:p>
        </p:txBody>
      </p:sp>
    </p:spTree>
    <p:extLst>
      <p:ext uri="{BB962C8B-B14F-4D97-AF65-F5344CB8AC3E}">
        <p14:creationId xmlns:p14="http://schemas.microsoft.com/office/powerpoint/2010/main" val="162652561"/>
      </p:ext>
    </p:extLst>
  </p:cSld>
</p:sld>
</file>

<file path=ppt/slides/slide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cxnSp>
        <p:nvCxnSpPr>
          <p:cNvPr id="40" name="">
            <a:extLst xmlns:a="http://schemas.openxmlformats.org/drawingml/2006/main">
              <a:ext uri="{FF2B5EF4-FFF2-40B4-BE49-F238E27FC236}">
                <a16:creationId xmlns:a16="http://schemas.microsoft.com/office/drawing/2014/main" id="{41554F15-9548-4571-9850-006FF34812AA}"/>
              </a:ext>
            </a:extLst>
          </p:cNvPr>
          <p:cNvCxnSpPr>
            <a:stCxn xmlns:a="http://schemas.openxmlformats.org/drawingml/2006/main" id="13" idx="1"/>
            <a:endCxn xmlns:a="http://schemas.openxmlformats.org/drawingml/2006/main" id="15" idx="5"/>
          </p:cNvCxnSpPr>
          <p:nvPr/>
        </p:nvCxnSpPr>
        <p:spPr>
          <a:xfrm xmlns:a="http://schemas.openxmlformats.org/drawingml/2006/main" flipH="1" flipV="1">
            <a:off x="3680794" y="4498039"/>
            <a:ext cx="810863" cy="733234"/>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9" name="">
            <a:extLst xmlns:a="http://schemas.openxmlformats.org/drawingml/2006/main">
              <a:ext uri="{FF2B5EF4-FFF2-40B4-BE49-F238E27FC236}">
                <a16:creationId xmlns:a16="http://schemas.microsoft.com/office/drawing/2014/main" id="{BF65EC98-BFF8-43D1-9E8A-AC5D0C082F03}"/>
              </a:ext>
            </a:extLst>
          </p:cNvPr>
          <p:cNvCxnSpPr>
            <a:stCxn xmlns:a="http://schemas.openxmlformats.org/drawingml/2006/main" id="4" idx="2"/>
            <a:endCxn xmlns:a="http://schemas.openxmlformats.org/drawingml/2006/main" id="15" idx="6"/>
          </p:cNvCxnSpPr>
          <p:nvPr/>
        </p:nvCxnSpPr>
        <p:spPr>
          <a:xfrm xmlns:a="http://schemas.openxmlformats.org/drawingml/2006/main" flipH="1">
            <a:off x="3733800" y="4050983"/>
            <a:ext cx="704850" cy="319087"/>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8" name="">
            <a:extLst xmlns:a="http://schemas.openxmlformats.org/drawingml/2006/main">
              <a:ext uri="{FF2B5EF4-FFF2-40B4-BE49-F238E27FC236}">
                <a16:creationId xmlns:a16="http://schemas.microsoft.com/office/drawing/2014/main" id="{7B6E5C00-2650-4807-90B6-80552B35E846}"/>
              </a:ext>
            </a:extLst>
          </p:cNvPr>
          <p:cNvCxnSpPr>
            <a:stCxn xmlns:a="http://schemas.openxmlformats.org/drawingml/2006/main" id="3" idx="4"/>
            <a:endCxn xmlns:a="http://schemas.openxmlformats.org/drawingml/2006/main" id="15" idx="0"/>
          </p:cNvCxnSpPr>
          <p:nvPr/>
        </p:nvCxnSpPr>
        <p:spPr>
          <a:xfrm xmlns:a="http://schemas.openxmlformats.org/drawingml/2006/main" flipH="1">
            <a:off x="3552825" y="3849053"/>
            <a:ext cx="200025" cy="340042"/>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7" name="">
            <a:extLst xmlns:a="http://schemas.openxmlformats.org/drawingml/2006/main">
              <a:ext uri="{FF2B5EF4-FFF2-40B4-BE49-F238E27FC236}">
                <a16:creationId xmlns:a16="http://schemas.microsoft.com/office/drawing/2014/main" id="{6BAD265D-72B4-484A-AE22-2397ABCB744D}"/>
              </a:ext>
            </a:extLst>
          </p:cNvPr>
          <p:cNvCxnSpPr>
            <a:stCxn xmlns:a="http://schemas.openxmlformats.org/drawingml/2006/main" id="12" idx="2"/>
            <a:endCxn xmlns:a="http://schemas.openxmlformats.org/drawingml/2006/main" id="13" idx="6"/>
          </p:cNvCxnSpPr>
          <p:nvPr/>
        </p:nvCxnSpPr>
        <p:spPr>
          <a:xfrm xmlns:a="http://schemas.openxmlformats.org/drawingml/2006/main" flipH="1">
            <a:off x="4800600" y="5167789"/>
            <a:ext cx="1204913" cy="191452"/>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6" name="">
            <a:extLst xmlns:a="http://schemas.openxmlformats.org/drawingml/2006/main">
              <a:ext uri="{FF2B5EF4-FFF2-40B4-BE49-F238E27FC236}">
                <a16:creationId xmlns:a16="http://schemas.microsoft.com/office/drawing/2014/main" id="{C2AD1798-2734-4B93-A97D-D54E18C9C57E}"/>
              </a:ext>
            </a:extLst>
          </p:cNvPr>
          <p:cNvCxnSpPr>
            <a:stCxn xmlns:a="http://schemas.openxmlformats.org/drawingml/2006/main" id="11" idx="6"/>
            <a:endCxn xmlns:a="http://schemas.openxmlformats.org/drawingml/2006/main" id="12" idx="2"/>
          </p:cNvCxnSpPr>
          <p:nvPr/>
        </p:nvCxnSpPr>
        <p:spPr>
          <a:xfrm xmlns:a="http://schemas.openxmlformats.org/drawingml/2006/main" flipV="1">
            <a:off x="3033713" y="5167789"/>
            <a:ext cx="2971800" cy="478631"/>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5" name="">
            <a:extLst xmlns:a="http://schemas.openxmlformats.org/drawingml/2006/main">
              <a:ext uri="{FF2B5EF4-FFF2-40B4-BE49-F238E27FC236}">
                <a16:creationId xmlns:a16="http://schemas.microsoft.com/office/drawing/2014/main" id="{BB7A621F-A17B-41F9-B9FD-A7200317F19A}"/>
              </a:ext>
            </a:extLst>
          </p:cNvPr>
          <p:cNvCxnSpPr>
            <a:stCxn xmlns:a="http://schemas.openxmlformats.org/drawingml/2006/main" id="11" idx="6"/>
            <a:endCxn xmlns:a="http://schemas.openxmlformats.org/drawingml/2006/main" id="13" idx="2"/>
          </p:cNvCxnSpPr>
          <p:nvPr/>
        </p:nvCxnSpPr>
        <p:spPr>
          <a:xfrm xmlns:a="http://schemas.openxmlformats.org/drawingml/2006/main" flipV="1">
            <a:off x="3033713" y="5359241"/>
            <a:ext cx="1404937" cy="287179"/>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4" name="">
            <a:extLst xmlns:a="http://schemas.openxmlformats.org/drawingml/2006/main">
              <a:ext uri="{FF2B5EF4-FFF2-40B4-BE49-F238E27FC236}">
                <a16:creationId xmlns:a16="http://schemas.microsoft.com/office/drawing/2014/main" id="{64832234-077D-42C3-9E3C-C4A003FF8EB4}"/>
              </a:ext>
            </a:extLst>
          </p:cNvPr>
          <p:cNvCxnSpPr>
            <a:stCxn xmlns:a="http://schemas.openxmlformats.org/drawingml/2006/main" id="10" idx="5"/>
            <a:endCxn xmlns:a="http://schemas.openxmlformats.org/drawingml/2006/main" id="11" idx="2"/>
          </p:cNvCxnSpPr>
          <p:nvPr/>
        </p:nvCxnSpPr>
        <p:spPr>
          <a:xfrm xmlns:a="http://schemas.openxmlformats.org/drawingml/2006/main">
            <a:off x="1380507" y="5168123"/>
            <a:ext cx="1291256" cy="478297"/>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3" name="">
            <a:extLst xmlns:a="http://schemas.openxmlformats.org/drawingml/2006/main">
              <a:ext uri="{FF2B5EF4-FFF2-40B4-BE49-F238E27FC236}">
                <a16:creationId xmlns:a16="http://schemas.microsoft.com/office/drawing/2014/main" id="{B1C76997-C3BA-4B80-80BE-1860FD66625E}"/>
              </a:ext>
            </a:extLst>
          </p:cNvPr>
          <p:cNvCxnSpPr>
            <a:stCxn xmlns:a="http://schemas.openxmlformats.org/drawingml/2006/main" id="9" idx="5"/>
            <a:endCxn xmlns:a="http://schemas.openxmlformats.org/drawingml/2006/main" id="11" idx="1"/>
          </p:cNvCxnSpPr>
          <p:nvPr/>
        </p:nvCxnSpPr>
        <p:spPr>
          <a:xfrm xmlns:a="http://schemas.openxmlformats.org/drawingml/2006/main">
            <a:off x="1880569" y="3732229"/>
            <a:ext cx="844201" cy="1786223"/>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2" name="">
            <a:extLst xmlns:a="http://schemas.openxmlformats.org/drawingml/2006/main">
              <a:ext uri="{FF2B5EF4-FFF2-40B4-BE49-F238E27FC236}">
                <a16:creationId xmlns:a16="http://schemas.microsoft.com/office/drawing/2014/main" id="{97E28D46-CACA-49AA-878B-208B82F167B9}"/>
              </a:ext>
            </a:extLst>
          </p:cNvPr>
          <p:cNvCxnSpPr>
            <a:stCxn xmlns:a="http://schemas.openxmlformats.org/drawingml/2006/main" id="9" idx="4"/>
            <a:endCxn xmlns:a="http://schemas.openxmlformats.org/drawingml/2006/main" id="10" idx="0"/>
          </p:cNvCxnSpPr>
          <p:nvPr/>
        </p:nvCxnSpPr>
        <p:spPr>
          <a:xfrm xmlns:a="http://schemas.openxmlformats.org/drawingml/2006/main" flipH="1">
            <a:off x="1252538" y="3785235"/>
            <a:ext cx="500062" cy="1073944"/>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1" name="">
            <a:extLst xmlns:a="http://schemas.openxmlformats.org/drawingml/2006/main">
              <a:ext uri="{FF2B5EF4-FFF2-40B4-BE49-F238E27FC236}">
                <a16:creationId xmlns:a16="http://schemas.microsoft.com/office/drawing/2014/main" id="{7EC6BB9A-9E80-4825-905B-637F8117DD0E}"/>
              </a:ext>
            </a:extLst>
          </p:cNvPr>
          <p:cNvCxnSpPr>
            <a:stCxn xmlns:a="http://schemas.openxmlformats.org/drawingml/2006/main" id="8" idx="4"/>
            <a:endCxn xmlns:a="http://schemas.openxmlformats.org/drawingml/2006/main" id="10" idx="0"/>
          </p:cNvCxnSpPr>
          <p:nvPr/>
        </p:nvCxnSpPr>
        <p:spPr>
          <a:xfrm xmlns:a="http://schemas.openxmlformats.org/drawingml/2006/main" flipH="1">
            <a:off x="1252538" y="2668429"/>
            <a:ext cx="166687" cy="2190750"/>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30" name="">
            <a:extLst xmlns:a="http://schemas.openxmlformats.org/drawingml/2006/main">
              <a:ext uri="{FF2B5EF4-FFF2-40B4-BE49-F238E27FC236}">
                <a16:creationId xmlns:a16="http://schemas.microsoft.com/office/drawing/2014/main" id="{C1BD7A0F-9925-4E63-B82E-895A1AA290D3}"/>
              </a:ext>
            </a:extLst>
          </p:cNvPr>
          <p:cNvCxnSpPr>
            <a:stCxn xmlns:a="http://schemas.openxmlformats.org/drawingml/2006/main" id="8" idx="4"/>
            <a:endCxn xmlns:a="http://schemas.openxmlformats.org/drawingml/2006/main" id="9" idx="0"/>
          </p:cNvCxnSpPr>
          <p:nvPr/>
        </p:nvCxnSpPr>
        <p:spPr>
          <a:xfrm xmlns:a="http://schemas.openxmlformats.org/drawingml/2006/main">
            <a:off x="1419225" y="2668429"/>
            <a:ext cx="333375" cy="754856"/>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9" name="">
            <a:extLst xmlns:a="http://schemas.openxmlformats.org/drawingml/2006/main">
              <a:ext uri="{FF2B5EF4-FFF2-40B4-BE49-F238E27FC236}">
                <a16:creationId xmlns:a16="http://schemas.microsoft.com/office/drawing/2014/main" id="{8AD4C767-DF6E-4C9E-A534-E685DCE47018}"/>
              </a:ext>
            </a:extLst>
          </p:cNvPr>
          <p:cNvCxnSpPr>
            <a:stCxn xmlns:a="http://schemas.openxmlformats.org/drawingml/2006/main" id="7" idx="6"/>
            <a:endCxn xmlns:a="http://schemas.openxmlformats.org/drawingml/2006/main" id="14" idx="2"/>
          </p:cNvCxnSpPr>
          <p:nvPr/>
        </p:nvCxnSpPr>
        <p:spPr>
          <a:xfrm xmlns:a="http://schemas.openxmlformats.org/drawingml/2006/main" flipV="1">
            <a:off x="2867025" y="1913096"/>
            <a:ext cx="1638300" cy="574358"/>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8" name="">
            <a:extLst xmlns:a="http://schemas.openxmlformats.org/drawingml/2006/main">
              <a:ext uri="{FF2B5EF4-FFF2-40B4-BE49-F238E27FC236}">
                <a16:creationId xmlns:a16="http://schemas.microsoft.com/office/drawing/2014/main" id="{2CEA4862-92E5-4DC2-8A39-E8583D3BF1F2}"/>
              </a:ext>
            </a:extLst>
          </p:cNvPr>
          <p:cNvCxnSpPr>
            <a:stCxn xmlns:a="http://schemas.openxmlformats.org/drawingml/2006/main" id="7" idx="3"/>
            <a:endCxn xmlns:a="http://schemas.openxmlformats.org/drawingml/2006/main" id="9" idx="7"/>
          </p:cNvCxnSpPr>
          <p:nvPr/>
        </p:nvCxnSpPr>
        <p:spPr>
          <a:xfrm xmlns:a="http://schemas.openxmlformats.org/drawingml/2006/main" flipH="1">
            <a:off x="1880569" y="2615423"/>
            <a:ext cx="677513" cy="860869"/>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7" name="">
            <a:extLst xmlns:a="http://schemas.openxmlformats.org/drawingml/2006/main">
              <a:ext uri="{FF2B5EF4-FFF2-40B4-BE49-F238E27FC236}">
                <a16:creationId xmlns:a16="http://schemas.microsoft.com/office/drawing/2014/main" id="{C3A5FB70-62B6-47AD-9E73-E1E015BCB4A0}"/>
              </a:ext>
            </a:extLst>
          </p:cNvPr>
          <p:cNvCxnSpPr>
            <a:stCxn xmlns:a="http://schemas.openxmlformats.org/drawingml/2006/main" id="7" idx="2"/>
            <a:endCxn xmlns:a="http://schemas.openxmlformats.org/drawingml/2006/main" id="8" idx="6"/>
          </p:cNvCxnSpPr>
          <p:nvPr/>
        </p:nvCxnSpPr>
        <p:spPr>
          <a:xfrm xmlns:a="http://schemas.openxmlformats.org/drawingml/2006/main" flipH="1">
            <a:off x="1600200" y="2487454"/>
            <a:ext cx="904875" cy="0"/>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6" name="">
            <a:extLst xmlns:a="http://schemas.openxmlformats.org/drawingml/2006/main">
              <a:ext uri="{FF2B5EF4-FFF2-40B4-BE49-F238E27FC236}">
                <a16:creationId xmlns:a16="http://schemas.microsoft.com/office/drawing/2014/main" id="{0F7CFA33-DA5F-470F-BD7F-36B905DAC328}"/>
              </a:ext>
            </a:extLst>
          </p:cNvPr>
          <p:cNvCxnSpPr>
            <a:stCxn xmlns:a="http://schemas.openxmlformats.org/drawingml/2006/main" id="6" idx="1"/>
            <a:endCxn xmlns:a="http://schemas.openxmlformats.org/drawingml/2006/main" id="14" idx="6"/>
          </p:cNvCxnSpPr>
          <p:nvPr/>
        </p:nvCxnSpPr>
        <p:spPr>
          <a:xfrm xmlns:a="http://schemas.openxmlformats.org/drawingml/2006/main" flipH="1" flipV="1">
            <a:off x="4867275" y="1913096"/>
            <a:ext cx="1191244" cy="446389"/>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5" name="">
            <a:extLst xmlns:a="http://schemas.openxmlformats.org/drawingml/2006/main">
              <a:ext uri="{FF2B5EF4-FFF2-40B4-BE49-F238E27FC236}">
                <a16:creationId xmlns:a16="http://schemas.microsoft.com/office/drawing/2014/main" id="{C0C51A97-AEC5-4AAC-BD13-013B60CCD6E4}"/>
              </a:ext>
            </a:extLst>
          </p:cNvPr>
          <p:cNvCxnSpPr>
            <a:stCxn xmlns:a="http://schemas.openxmlformats.org/drawingml/2006/main" id="6" idx="2"/>
            <a:endCxn xmlns:a="http://schemas.openxmlformats.org/drawingml/2006/main" id="7" idx="6"/>
          </p:cNvCxnSpPr>
          <p:nvPr/>
        </p:nvCxnSpPr>
        <p:spPr>
          <a:xfrm xmlns:a="http://schemas.openxmlformats.org/drawingml/2006/main" flipH="1">
            <a:off x="2867025" y="2487454"/>
            <a:ext cx="3138488" cy="0"/>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4" name="">
            <a:extLst xmlns:a="http://schemas.openxmlformats.org/drawingml/2006/main">
              <a:ext uri="{FF2B5EF4-FFF2-40B4-BE49-F238E27FC236}">
                <a16:creationId xmlns:a16="http://schemas.microsoft.com/office/drawing/2014/main" id="{83D2E0B2-67DB-48F1-9DA5-A52D29E41A28}"/>
              </a:ext>
            </a:extLst>
          </p:cNvPr>
          <p:cNvCxnSpPr>
            <a:stCxn xmlns:a="http://schemas.openxmlformats.org/drawingml/2006/main" id="5" idx="1"/>
            <a:endCxn xmlns:a="http://schemas.openxmlformats.org/drawingml/2006/main" id="14" idx="5"/>
          </p:cNvCxnSpPr>
          <p:nvPr/>
        </p:nvCxnSpPr>
        <p:spPr>
          <a:xfrm xmlns:a="http://schemas.openxmlformats.org/drawingml/2006/main" flipH="1" flipV="1">
            <a:off x="4814269" y="2041065"/>
            <a:ext cx="1244251" cy="1243775"/>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3" name="">
            <a:extLst xmlns:a="http://schemas.openxmlformats.org/drawingml/2006/main">
              <a:ext uri="{FF2B5EF4-FFF2-40B4-BE49-F238E27FC236}">
                <a16:creationId xmlns:a16="http://schemas.microsoft.com/office/drawing/2014/main" id="{F054E4EE-BA4C-405C-B21C-B1BFDB688336}"/>
              </a:ext>
            </a:extLst>
          </p:cNvPr>
          <p:cNvCxnSpPr>
            <a:stCxn xmlns:a="http://schemas.openxmlformats.org/drawingml/2006/main" id="5" idx="4"/>
            <a:endCxn xmlns:a="http://schemas.openxmlformats.org/drawingml/2006/main" id="12" idx="0"/>
          </p:cNvCxnSpPr>
          <p:nvPr/>
        </p:nvCxnSpPr>
        <p:spPr>
          <a:xfrm xmlns:a="http://schemas.openxmlformats.org/drawingml/2006/main">
            <a:off x="6186488" y="3593783"/>
            <a:ext cx="0" cy="1393031"/>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2" name="">
            <a:extLst xmlns:a="http://schemas.openxmlformats.org/drawingml/2006/main">
              <a:ext uri="{FF2B5EF4-FFF2-40B4-BE49-F238E27FC236}">
                <a16:creationId xmlns:a16="http://schemas.microsoft.com/office/drawing/2014/main" id="{68179326-7011-40DD-95F3-F90A4AD2C89D}"/>
              </a:ext>
            </a:extLst>
          </p:cNvPr>
          <p:cNvCxnSpPr>
            <a:stCxn xmlns:a="http://schemas.openxmlformats.org/drawingml/2006/main" id="5" idx="0"/>
            <a:endCxn xmlns:a="http://schemas.openxmlformats.org/drawingml/2006/main" id="6" idx="4"/>
          </p:cNvCxnSpPr>
          <p:nvPr/>
        </p:nvCxnSpPr>
        <p:spPr>
          <a:xfrm xmlns:a="http://schemas.openxmlformats.org/drawingml/2006/main" flipV="1">
            <a:off x="6186488" y="2668429"/>
            <a:ext cx="0" cy="563404"/>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1" name="">
            <a:extLst xmlns:a="http://schemas.openxmlformats.org/drawingml/2006/main">
              <a:ext uri="{FF2B5EF4-FFF2-40B4-BE49-F238E27FC236}">
                <a16:creationId xmlns:a16="http://schemas.microsoft.com/office/drawing/2014/main" id="{27959092-0C83-4BA3-B7E8-079E816774C1}"/>
              </a:ext>
            </a:extLst>
          </p:cNvPr>
          <p:cNvCxnSpPr>
            <a:stCxn xmlns:a="http://schemas.openxmlformats.org/drawingml/2006/main" id="4" idx="5"/>
            <a:endCxn xmlns:a="http://schemas.openxmlformats.org/drawingml/2006/main" id="12" idx="1"/>
          </p:cNvCxnSpPr>
          <p:nvPr/>
        </p:nvCxnSpPr>
        <p:spPr>
          <a:xfrm xmlns:a="http://schemas.openxmlformats.org/drawingml/2006/main">
            <a:off x="4747594" y="4178952"/>
            <a:ext cx="1310926" cy="860869"/>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20" name="">
            <a:extLst xmlns:a="http://schemas.openxmlformats.org/drawingml/2006/main">
              <a:ext uri="{FF2B5EF4-FFF2-40B4-BE49-F238E27FC236}">
                <a16:creationId xmlns:a16="http://schemas.microsoft.com/office/drawing/2014/main" id="{94E2E2B7-E2D2-48EF-9758-49CCBB3EA16B}"/>
              </a:ext>
            </a:extLst>
          </p:cNvPr>
          <p:cNvCxnSpPr>
            <a:stCxn xmlns:a="http://schemas.openxmlformats.org/drawingml/2006/main" id="4" idx="4"/>
            <a:endCxn xmlns:a="http://schemas.openxmlformats.org/drawingml/2006/main" id="13" idx="0"/>
          </p:cNvCxnSpPr>
          <p:nvPr/>
        </p:nvCxnSpPr>
        <p:spPr>
          <a:xfrm xmlns:a="http://schemas.openxmlformats.org/drawingml/2006/main">
            <a:off x="4619625" y="4231958"/>
            <a:ext cx="0" cy="946308"/>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19" name="">
            <a:extLst xmlns:a="http://schemas.openxmlformats.org/drawingml/2006/main">
              <a:ext uri="{FF2B5EF4-FFF2-40B4-BE49-F238E27FC236}">
                <a16:creationId xmlns:a16="http://schemas.microsoft.com/office/drawing/2014/main" id="{320C5DC9-9728-4C23-9A59-767F20E59B47}"/>
              </a:ext>
            </a:extLst>
          </p:cNvPr>
          <p:cNvCxnSpPr>
            <a:stCxn xmlns:a="http://schemas.openxmlformats.org/drawingml/2006/main" id="4" idx="6"/>
            <a:endCxn xmlns:a="http://schemas.openxmlformats.org/drawingml/2006/main" id="5" idx="3"/>
          </p:cNvCxnSpPr>
          <p:nvPr/>
        </p:nvCxnSpPr>
        <p:spPr>
          <a:xfrm xmlns:a="http://schemas.openxmlformats.org/drawingml/2006/main" flipV="1">
            <a:off x="4800600" y="3540777"/>
            <a:ext cx="1257919" cy="510206"/>
          </a:xfrm>
          <a:prstGeom xmlns:a="http://schemas.openxmlformats.org/drawingml/2006/main" prst="straightConnector1">
            <a:avLst/>
          </a:prstGeom>
          <a:ln xmlns:a="http://schemas.openxmlformats.org/drawingml/2006/main" w="28575">
            <a:solidFill>
              <a:srgbClr val="00685D"/>
            </a:solidFill>
            <a:headEnd type="none" w="med" len="med"/>
            <a:tailEnd type="arrow" w="med" len="med"/>
          </a:ln>
        </p:spPr>
      </p:cxnSp>
      <p:cxnSp>
        <p:nvCxnSpPr>
          <p:cNvPr id="18" name="">
            <a:extLst xmlns:a="http://schemas.openxmlformats.org/drawingml/2006/main">
              <a:ext uri="{FF2B5EF4-FFF2-40B4-BE49-F238E27FC236}">
                <a16:creationId xmlns:a16="http://schemas.microsoft.com/office/drawing/2014/main" id="{A32B44B1-BA0C-47C5-BFE3-8930CAB091D2}"/>
              </a:ext>
            </a:extLst>
          </p:cNvPr>
          <p:cNvCxnSpPr>
            <a:stCxn xmlns:a="http://schemas.openxmlformats.org/drawingml/2006/main" id="3" idx="2"/>
            <a:endCxn xmlns:a="http://schemas.openxmlformats.org/drawingml/2006/main" id="9" idx="6"/>
          </p:cNvCxnSpPr>
          <p:nvPr/>
        </p:nvCxnSpPr>
        <p:spPr>
          <a:xfrm xmlns:a="http://schemas.openxmlformats.org/drawingml/2006/main" flipH="1" flipV="1">
            <a:off x="1933575" y="3604260"/>
            <a:ext cx="1638300" cy="63818"/>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17" name="">
            <a:extLst xmlns:a="http://schemas.openxmlformats.org/drawingml/2006/main">
              <a:ext uri="{FF2B5EF4-FFF2-40B4-BE49-F238E27FC236}">
                <a16:creationId xmlns:a16="http://schemas.microsoft.com/office/drawing/2014/main" id="{728386F4-EE38-4CDE-8DEA-EF4095034317}"/>
              </a:ext>
            </a:extLst>
          </p:cNvPr>
          <p:cNvCxnSpPr>
            <a:stCxn xmlns:a="http://schemas.openxmlformats.org/drawingml/2006/main" id="3" idx="5"/>
            <a:endCxn xmlns:a="http://schemas.openxmlformats.org/drawingml/2006/main" id="13" idx="1"/>
          </p:cNvCxnSpPr>
          <p:nvPr/>
        </p:nvCxnSpPr>
        <p:spPr>
          <a:xfrm xmlns:a="http://schemas.openxmlformats.org/drawingml/2006/main">
            <a:off x="3880819" y="3796047"/>
            <a:ext cx="610838" cy="1435226"/>
          </a:xfrm>
          <a:prstGeom xmlns:a="http://schemas.openxmlformats.org/drawingml/2006/main" prst="straightConnector1">
            <a:avLst/>
          </a:prstGeom>
          <a:ln xmlns:a="http://schemas.openxmlformats.org/drawingml/2006/main" w="9525">
            <a:solidFill>
              <a:srgbClr val="A9BAB6"/>
            </a:solidFill>
            <a:headEnd type="none" w="med" len="med"/>
            <a:tailEnd type="none" w="med" len="med"/>
          </a:ln>
        </p:spPr>
      </p:cxnSp>
      <p:cxnSp>
        <p:nvCxnSpPr>
          <p:cNvPr id="16" name="">
            <a:extLst xmlns:a="http://schemas.openxmlformats.org/drawingml/2006/main">
              <a:ext uri="{FF2B5EF4-FFF2-40B4-BE49-F238E27FC236}">
                <a16:creationId xmlns:a16="http://schemas.microsoft.com/office/drawing/2014/main" id="{E1A649CA-5646-488D-AF89-D16D60480DD0}"/>
              </a:ext>
            </a:extLst>
          </p:cNvPr>
          <p:cNvCxnSpPr>
            <a:stCxn xmlns:a="http://schemas.openxmlformats.org/drawingml/2006/main" id="3" idx="5"/>
            <a:endCxn xmlns:a="http://schemas.openxmlformats.org/drawingml/2006/main" id="4" idx="2"/>
          </p:cNvCxnSpPr>
          <p:nvPr/>
        </p:nvCxnSpPr>
        <p:spPr>
          <a:xfrm xmlns:a="http://schemas.openxmlformats.org/drawingml/2006/main">
            <a:off x="3880819" y="3796047"/>
            <a:ext cx="557831" cy="254936"/>
          </a:xfrm>
          <a:prstGeom xmlns:a="http://schemas.openxmlformats.org/drawingml/2006/main" prst="straightConnector1">
            <a:avLst/>
          </a:prstGeom>
          <a:ln xmlns:a="http://schemas.openxmlformats.org/drawingml/2006/main" w="28575">
            <a:solidFill>
              <a:srgbClr val="00685D"/>
            </a:solidFill>
            <a:headEnd type="none" w="med" len="med"/>
            <a:tailEnd type="arrow" w="med" len="med"/>
          </a:ln>
        </p:spPr>
      </p:cxnSp>
      <p:sp>
        <p:nvSpPr>
          <p:cNvPr id="54" name="">
            <a:extLst xmlns:a="http://schemas.openxmlformats.org/drawingml/2006/main">
              <a:ext uri="{FF2B5EF4-FFF2-40B4-BE49-F238E27FC236}">
                <a16:creationId xmlns:a16="http://schemas.microsoft.com/office/drawing/2014/main" id="{888A3013-6F72-49CF-8A3B-28CC98799477}"/>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The 13-location teaching network</a:t>
            </a:r>
          </a:p>
        </p:txBody>
      </p:sp>
      <p:sp>
        <p:nvSpPr>
          <p:cNvPr id="2" name="">
            <a:extLst xmlns:a="http://schemas.openxmlformats.org/drawingml/2006/main">
              <a:ext uri="{FF2B5EF4-FFF2-40B4-BE49-F238E27FC236}">
                <a16:creationId xmlns:a16="http://schemas.microsoft.com/office/drawing/2014/main" id="{7DD89626-CCF1-459C-B641-8FCFF6113DD4}"/>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A810487E-A6F0-4BB6-822B-B6ECDCF6492A}"/>
              </a:ext>
            </a:extLst>
          </p:cNvPr>
          <p:cNvSpPr>
            <a:spLocks xmlns:a="http://schemas.openxmlformats.org/drawingml/2006/main" noGrp="1"/>
          </p:cNvSpPr>
          <p:nvPr/>
        </p:nvSpPr>
        <p:spPr>
          <a:xfrm xmlns:a="http://schemas.openxmlformats.org/drawingml/2006/main">
            <a:off x="3571875" y="3487103"/>
            <a:ext cx="361950" cy="361950"/>
          </a:xfrm>
          <a:prstGeom xmlns:a="http://schemas.openxmlformats.org/drawingml/2006/main" prst="ellipse">
            <a:avLst/>
          </a:prstGeom>
          <a:solidFill xmlns:a="http://schemas.openxmlformats.org/drawingml/2006/main">
            <a:srgbClr val="00685D"/>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a:t>
            </a:r>
          </a:p>
        </p:txBody>
      </p:sp>
      <p:sp>
        <p:nvSpPr>
          <p:cNvPr id="4" name="">
            <a:extLst xmlns:a="http://schemas.openxmlformats.org/drawingml/2006/main">
              <a:ext uri="{FF2B5EF4-FFF2-40B4-BE49-F238E27FC236}">
                <a16:creationId xmlns:a16="http://schemas.microsoft.com/office/drawing/2014/main" id="{2D236198-C480-4CF1-B5C0-13A8489EFFEE}"/>
              </a:ext>
            </a:extLst>
          </p:cNvPr>
          <p:cNvSpPr>
            <a:spLocks xmlns:a="http://schemas.openxmlformats.org/drawingml/2006/main" noGrp="1"/>
          </p:cNvSpPr>
          <p:nvPr/>
        </p:nvSpPr>
        <p:spPr>
          <a:xfrm xmlns:a="http://schemas.openxmlformats.org/drawingml/2006/main">
            <a:off x="4438650" y="3870008"/>
            <a:ext cx="361950" cy="361950"/>
          </a:xfrm>
          <a:prstGeom xmlns:a="http://schemas.openxmlformats.org/drawingml/2006/main" prst="ellipse">
            <a:avLst/>
          </a:prstGeom>
          <a:solidFill xmlns:a="http://schemas.openxmlformats.org/drawingml/2006/main">
            <a:srgbClr val="00685D"/>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a:t>
            </a:r>
          </a:p>
        </p:txBody>
      </p:sp>
      <p:sp>
        <p:nvSpPr>
          <p:cNvPr id="5" name="">
            <a:extLst xmlns:a="http://schemas.openxmlformats.org/drawingml/2006/main">
              <a:ext uri="{FF2B5EF4-FFF2-40B4-BE49-F238E27FC236}">
                <a16:creationId xmlns:a16="http://schemas.microsoft.com/office/drawing/2014/main" id="{C1D5E965-9070-4600-B10F-CA130983A278}"/>
              </a:ext>
            </a:extLst>
          </p:cNvPr>
          <p:cNvSpPr>
            <a:spLocks xmlns:a="http://schemas.openxmlformats.org/drawingml/2006/main" noGrp="1"/>
          </p:cNvSpPr>
          <p:nvPr/>
        </p:nvSpPr>
        <p:spPr>
          <a:xfrm xmlns:a="http://schemas.openxmlformats.org/drawingml/2006/main">
            <a:off x="6005513" y="3231833"/>
            <a:ext cx="361950" cy="361950"/>
          </a:xfrm>
          <a:prstGeom xmlns:a="http://schemas.openxmlformats.org/drawingml/2006/main" prst="ellipse">
            <a:avLst/>
          </a:prstGeom>
          <a:solidFill xmlns:a="http://schemas.openxmlformats.org/drawingml/2006/main">
            <a:srgbClr val="00685D"/>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a:t>
            </a:r>
          </a:p>
        </p:txBody>
      </p:sp>
      <p:sp>
        <p:nvSpPr>
          <p:cNvPr id="6" name="">
            <a:extLst xmlns:a="http://schemas.openxmlformats.org/drawingml/2006/main">
              <a:ext uri="{FF2B5EF4-FFF2-40B4-BE49-F238E27FC236}">
                <a16:creationId xmlns:a16="http://schemas.microsoft.com/office/drawing/2014/main" id="{6EA63C56-7C2E-4192-9955-2F2696BB0763}"/>
              </a:ext>
            </a:extLst>
          </p:cNvPr>
          <p:cNvSpPr>
            <a:spLocks xmlns:a="http://schemas.openxmlformats.org/drawingml/2006/main" noGrp="1"/>
          </p:cNvSpPr>
          <p:nvPr/>
        </p:nvSpPr>
        <p:spPr>
          <a:xfrm xmlns:a="http://schemas.openxmlformats.org/drawingml/2006/main">
            <a:off x="6005513" y="2306479"/>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D</a:t>
            </a:r>
          </a:p>
        </p:txBody>
      </p:sp>
      <p:sp>
        <p:nvSpPr>
          <p:cNvPr id="7" name="">
            <a:extLst xmlns:a="http://schemas.openxmlformats.org/drawingml/2006/main">
              <a:ext uri="{FF2B5EF4-FFF2-40B4-BE49-F238E27FC236}">
                <a16:creationId xmlns:a16="http://schemas.microsoft.com/office/drawing/2014/main" id="{5F3C3078-99A9-4226-B80B-255F400BEBAD}"/>
              </a:ext>
            </a:extLst>
          </p:cNvPr>
          <p:cNvSpPr>
            <a:spLocks xmlns:a="http://schemas.openxmlformats.org/drawingml/2006/main" noGrp="1"/>
          </p:cNvSpPr>
          <p:nvPr/>
        </p:nvSpPr>
        <p:spPr>
          <a:xfrm xmlns:a="http://schemas.openxmlformats.org/drawingml/2006/main">
            <a:off x="2505075" y="2306479"/>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E</a:t>
            </a:r>
          </a:p>
        </p:txBody>
      </p:sp>
      <p:sp>
        <p:nvSpPr>
          <p:cNvPr id="8" name="">
            <a:extLst xmlns:a="http://schemas.openxmlformats.org/drawingml/2006/main">
              <a:ext uri="{FF2B5EF4-FFF2-40B4-BE49-F238E27FC236}">
                <a16:creationId xmlns:a16="http://schemas.microsoft.com/office/drawing/2014/main" id="{2FB74A81-93AE-43C0-A872-0C730C1E2172}"/>
              </a:ext>
            </a:extLst>
          </p:cNvPr>
          <p:cNvSpPr>
            <a:spLocks xmlns:a="http://schemas.openxmlformats.org/drawingml/2006/main" noGrp="1"/>
          </p:cNvSpPr>
          <p:nvPr/>
        </p:nvSpPr>
        <p:spPr>
          <a:xfrm xmlns:a="http://schemas.openxmlformats.org/drawingml/2006/main">
            <a:off x="1238250" y="2306479"/>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F</a:t>
            </a:r>
          </a:p>
        </p:txBody>
      </p:sp>
      <p:sp>
        <p:nvSpPr>
          <p:cNvPr id="9" name="">
            <a:extLst xmlns:a="http://schemas.openxmlformats.org/drawingml/2006/main">
              <a:ext uri="{FF2B5EF4-FFF2-40B4-BE49-F238E27FC236}">
                <a16:creationId xmlns:a16="http://schemas.microsoft.com/office/drawing/2014/main" id="{B8CB7A64-31BB-4F3D-B97E-50DD84B877E6}"/>
              </a:ext>
            </a:extLst>
          </p:cNvPr>
          <p:cNvSpPr>
            <a:spLocks xmlns:a="http://schemas.openxmlformats.org/drawingml/2006/main" noGrp="1"/>
          </p:cNvSpPr>
          <p:nvPr/>
        </p:nvSpPr>
        <p:spPr>
          <a:xfrm xmlns:a="http://schemas.openxmlformats.org/drawingml/2006/main">
            <a:off x="1571625" y="3423285"/>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G</a:t>
            </a:r>
          </a:p>
        </p:txBody>
      </p:sp>
      <p:sp>
        <p:nvSpPr>
          <p:cNvPr id="10" name="">
            <a:extLst xmlns:a="http://schemas.openxmlformats.org/drawingml/2006/main">
              <a:ext uri="{FF2B5EF4-FFF2-40B4-BE49-F238E27FC236}">
                <a16:creationId xmlns:a16="http://schemas.microsoft.com/office/drawing/2014/main" id="{4F9EAE13-220D-4E80-914E-ED0E7E5C8D30}"/>
              </a:ext>
            </a:extLst>
          </p:cNvPr>
          <p:cNvSpPr>
            <a:spLocks xmlns:a="http://schemas.openxmlformats.org/drawingml/2006/main" noGrp="1"/>
          </p:cNvSpPr>
          <p:nvPr/>
        </p:nvSpPr>
        <p:spPr>
          <a:xfrm xmlns:a="http://schemas.openxmlformats.org/drawingml/2006/main">
            <a:off x="1071563" y="4859179"/>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H</a:t>
            </a:r>
          </a:p>
        </p:txBody>
      </p:sp>
      <p:sp>
        <p:nvSpPr>
          <p:cNvPr id="11" name="">
            <a:extLst xmlns:a="http://schemas.openxmlformats.org/drawingml/2006/main">
              <a:ext uri="{FF2B5EF4-FFF2-40B4-BE49-F238E27FC236}">
                <a16:creationId xmlns:a16="http://schemas.microsoft.com/office/drawing/2014/main" id="{78097BAF-322D-4906-9BDE-CB4E0AA3A58F}"/>
              </a:ext>
            </a:extLst>
          </p:cNvPr>
          <p:cNvSpPr>
            <a:spLocks xmlns:a="http://schemas.openxmlformats.org/drawingml/2006/main" noGrp="1"/>
          </p:cNvSpPr>
          <p:nvPr/>
        </p:nvSpPr>
        <p:spPr>
          <a:xfrm xmlns:a="http://schemas.openxmlformats.org/drawingml/2006/main">
            <a:off x="2671763" y="5465445"/>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I</a:t>
            </a:r>
          </a:p>
        </p:txBody>
      </p:sp>
      <p:sp>
        <p:nvSpPr>
          <p:cNvPr id="12" name="">
            <a:extLst xmlns:a="http://schemas.openxmlformats.org/drawingml/2006/main">
              <a:ext uri="{FF2B5EF4-FFF2-40B4-BE49-F238E27FC236}">
                <a16:creationId xmlns:a16="http://schemas.microsoft.com/office/drawing/2014/main" id="{53C348CB-DF6D-48F9-9A38-A8C295EE90B5}"/>
              </a:ext>
            </a:extLst>
          </p:cNvPr>
          <p:cNvSpPr>
            <a:spLocks xmlns:a="http://schemas.openxmlformats.org/drawingml/2006/main" noGrp="1"/>
          </p:cNvSpPr>
          <p:nvPr/>
        </p:nvSpPr>
        <p:spPr>
          <a:xfrm xmlns:a="http://schemas.openxmlformats.org/drawingml/2006/main">
            <a:off x="6005513" y="4986814"/>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J</a:t>
            </a:r>
          </a:p>
        </p:txBody>
      </p:sp>
      <p:sp>
        <p:nvSpPr>
          <p:cNvPr id="13" name="">
            <a:extLst xmlns:a="http://schemas.openxmlformats.org/drawingml/2006/main">
              <a:ext uri="{FF2B5EF4-FFF2-40B4-BE49-F238E27FC236}">
                <a16:creationId xmlns:a16="http://schemas.microsoft.com/office/drawing/2014/main" id="{57757D42-EAB7-45FE-8E6B-27C644E221F5}"/>
              </a:ext>
            </a:extLst>
          </p:cNvPr>
          <p:cNvSpPr>
            <a:spLocks xmlns:a="http://schemas.openxmlformats.org/drawingml/2006/main" noGrp="1"/>
          </p:cNvSpPr>
          <p:nvPr/>
        </p:nvSpPr>
        <p:spPr>
          <a:xfrm xmlns:a="http://schemas.openxmlformats.org/drawingml/2006/main">
            <a:off x="4438650" y="5178266"/>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K</a:t>
            </a:r>
          </a:p>
        </p:txBody>
      </p:sp>
      <p:sp>
        <p:nvSpPr>
          <p:cNvPr id="14" name="">
            <a:extLst xmlns:a="http://schemas.openxmlformats.org/drawingml/2006/main">
              <a:ext uri="{FF2B5EF4-FFF2-40B4-BE49-F238E27FC236}">
                <a16:creationId xmlns:a16="http://schemas.microsoft.com/office/drawing/2014/main" id="{F6856B53-B50B-4C9F-A726-2F48AED45B6F}"/>
              </a:ext>
            </a:extLst>
          </p:cNvPr>
          <p:cNvSpPr>
            <a:spLocks xmlns:a="http://schemas.openxmlformats.org/drawingml/2006/main" noGrp="1"/>
          </p:cNvSpPr>
          <p:nvPr/>
        </p:nvSpPr>
        <p:spPr>
          <a:xfrm xmlns:a="http://schemas.openxmlformats.org/drawingml/2006/main">
            <a:off x="4505325" y="1732121"/>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L</a:t>
            </a:r>
          </a:p>
        </p:txBody>
      </p:sp>
      <p:sp>
        <p:nvSpPr>
          <p:cNvPr id="15" name="">
            <a:extLst xmlns:a="http://schemas.openxmlformats.org/drawingml/2006/main">
              <a:ext uri="{FF2B5EF4-FFF2-40B4-BE49-F238E27FC236}">
                <a16:creationId xmlns:a16="http://schemas.microsoft.com/office/drawing/2014/main" id="{4AF6A066-AA38-4876-8073-5FD594763554}"/>
              </a:ext>
            </a:extLst>
          </p:cNvPr>
          <p:cNvSpPr>
            <a:spLocks xmlns:a="http://schemas.openxmlformats.org/drawingml/2006/main" noGrp="1"/>
          </p:cNvSpPr>
          <p:nvPr/>
        </p:nvSpPr>
        <p:spPr>
          <a:xfrm xmlns:a="http://schemas.openxmlformats.org/drawingml/2006/main">
            <a:off x="3371850" y="4189095"/>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685D"/>
            </a:solidFill>
          </a:ln>
        </p:spPr>
        <p:txBody>
          <a:bodyPr xmlns:a="http://schemas.openxmlformats.org/drawingml/2006/main" anchor="ctr"/>
          <a:lstStyle xmlns:a="http://schemas.openxmlformats.org/drawingml/2006/main">
            <a:defPPr algn="ctr">
              <a:defRPr sz="1800" b="1">
                <a:solidFill>
                  <a:srgbClr val="142B33"/>
                </a:solidFill>
                <a:latin typeface="Arial"/>
                <a:ea typeface="Arial"/>
                <a:cs typeface="Arial"/>
              </a:defRPr>
            </a:defPPr>
            <a:lvl1pPr algn="ctr">
              <a:defRPr sz="1800" b="1">
                <a:solidFill>
                  <a:srgbClr val="142B33"/>
                </a:solidFill>
                <a:latin typeface="Arial"/>
                <a:ea typeface="Arial"/>
                <a:cs typeface="Arial"/>
              </a:defRPr>
            </a:lvl1pPr>
            <a:lvl2pPr algn="ctr">
              <a:defRPr sz="1800" b="1">
                <a:solidFill>
                  <a:srgbClr val="142B33"/>
                </a:solidFill>
                <a:latin typeface="Arial"/>
                <a:ea typeface="Arial"/>
                <a:cs typeface="Arial"/>
              </a:defRPr>
            </a:lvl2pPr>
            <a:lvl3pPr algn="ctr">
              <a:defRPr sz="1800" b="1">
                <a:solidFill>
                  <a:srgbClr val="142B33"/>
                </a:solidFill>
                <a:latin typeface="Arial"/>
                <a:ea typeface="Arial"/>
                <a:cs typeface="Arial"/>
              </a:defRPr>
            </a:lvl3pPr>
            <a:lvl4pPr algn="ctr">
              <a:defRPr sz="1800" b="1">
                <a:solidFill>
                  <a:srgbClr val="142B33"/>
                </a:solidFill>
                <a:latin typeface="Arial"/>
                <a:ea typeface="Arial"/>
                <a:cs typeface="Arial"/>
              </a:defRPr>
            </a:lvl4pPr>
            <a:lvl5pPr algn="ctr">
              <a:defRPr sz="1800" b="1">
                <a:solidFill>
                  <a:srgbClr val="142B33"/>
                </a:solidFill>
                <a:latin typeface="Arial"/>
                <a:ea typeface="Arial"/>
                <a:cs typeface="Arial"/>
              </a:defRPr>
            </a:lvl5pPr>
            <a:lvl6pPr algn="ctr">
              <a:defRPr sz="1800" b="1">
                <a:solidFill>
                  <a:srgbClr val="142B33"/>
                </a:solidFill>
                <a:latin typeface="Arial"/>
                <a:ea typeface="Arial"/>
                <a:cs typeface="Arial"/>
              </a:defRPr>
            </a:lvl6pPr>
            <a:lvl7pPr algn="ctr">
              <a:defRPr sz="1800" b="1">
                <a:solidFill>
                  <a:srgbClr val="142B33"/>
                </a:solidFill>
                <a:latin typeface="Arial"/>
                <a:ea typeface="Arial"/>
                <a:cs typeface="Arial"/>
              </a:defRPr>
            </a:lvl7pPr>
            <a:lvl8pPr algn="ctr">
              <a:defRPr sz="1800" b="1">
                <a:solidFill>
                  <a:srgbClr val="142B33"/>
                </a:solidFill>
                <a:latin typeface="Arial"/>
                <a:ea typeface="Arial"/>
                <a:cs typeface="Arial"/>
              </a:defRPr>
            </a:lvl8pPr>
            <a:lvl9pPr algn="ctr">
              <a:defRPr sz="1800" b="1">
                <a:solidFill>
                  <a:srgbClr val="142B33"/>
                </a:solidFill>
                <a:latin typeface="Arial"/>
                <a:ea typeface="Arial"/>
                <a:cs typeface="Arial"/>
              </a:defRPr>
            </a:lvl9pPr>
          </a:lstStyle>
          <a:p xmlns:a="http://schemas.openxmlformats.org/drawingml/2006/main">
            <a:pPr algn="ctr">
              <a:defRPr sz="1800" b="1">
                <a:solidFill>
                  <a:srgbClr val="142B33"/>
                </a:solidFill>
                <a:latin typeface="Arial"/>
                <a:ea typeface="Arial"/>
                <a:cs typeface="Arial"/>
              </a:defRPr>
            </a:pPr>
            <a:r>
              <a:rPr sz="1800" b="1">
                <a:solidFill>
                  <a:srgbClr val="142B33"/>
                </a:solidFill>
                <a:latin typeface="Arial"/>
                <a:ea typeface="Arial"/>
                <a:cs typeface="Arial"/>
              </a:rPr>
              <a:t>M</a:t>
            </a:r>
          </a:p>
        </p:txBody>
      </p:sp>
      <p:sp>
        <p:nvSpPr>
          <p:cNvPr id="41" name="">
            <a:extLst xmlns:a="http://schemas.openxmlformats.org/drawingml/2006/main">
              <a:ext uri="{FF2B5EF4-FFF2-40B4-BE49-F238E27FC236}">
                <a16:creationId xmlns:a16="http://schemas.microsoft.com/office/drawing/2014/main" id="{786DE0EB-B0A7-425B-967B-CAD0FEC242EC}"/>
              </a:ext>
            </a:extLst>
          </p:cNvPr>
          <p:cNvSpPr>
            <a:spLocks xmlns:a="http://schemas.openxmlformats.org/drawingml/2006/main" noGrp="1"/>
          </p:cNvSpPr>
          <p:nvPr/>
        </p:nvSpPr>
        <p:spPr>
          <a:xfrm xmlns:a="http://schemas.openxmlformats.org/drawingml/2006/main">
            <a:off x="7334250" y="14763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A  JAIN University (source)</a:t>
            </a:r>
          </a:p>
        </p:txBody>
      </p:sp>
      <p:sp>
        <p:nvSpPr>
          <p:cNvPr id="42" name="">
            <a:extLst xmlns:a="http://schemas.openxmlformats.org/drawingml/2006/main">
              <a:ext uri="{FF2B5EF4-FFF2-40B4-BE49-F238E27FC236}">
                <a16:creationId xmlns:a16="http://schemas.microsoft.com/office/drawing/2014/main" id="{56692DF5-8020-430F-BA48-E8FB42C459D7}"/>
              </a:ext>
            </a:extLst>
          </p:cNvPr>
          <p:cNvSpPr>
            <a:spLocks xmlns:a="http://schemas.openxmlformats.org/drawingml/2006/main" noGrp="1"/>
          </p:cNvSpPr>
          <p:nvPr/>
        </p:nvSpPr>
        <p:spPr>
          <a:xfrm xmlns:a="http://schemas.openxmlformats.org/drawingml/2006/main">
            <a:off x="7334250" y="18288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B  Ragigudda bus stop</a:t>
            </a:r>
          </a:p>
        </p:txBody>
      </p:sp>
      <p:sp>
        <p:nvSpPr>
          <p:cNvPr id="43" name="">
            <a:extLst xmlns:a="http://schemas.openxmlformats.org/drawingml/2006/main">
              <a:ext uri="{FF2B5EF4-FFF2-40B4-BE49-F238E27FC236}">
                <a16:creationId xmlns:a16="http://schemas.microsoft.com/office/drawing/2014/main" id="{FEEFEE6A-EDA9-4996-88E8-B98D25104D0E}"/>
              </a:ext>
            </a:extLst>
          </p:cNvPr>
          <p:cNvSpPr>
            <a:spLocks xmlns:a="http://schemas.openxmlformats.org/drawingml/2006/main" noGrp="1"/>
          </p:cNvSpPr>
          <p:nvPr/>
        </p:nvSpPr>
        <p:spPr>
          <a:xfrm xmlns:a="http://schemas.openxmlformats.org/drawingml/2006/main">
            <a:off x="7334250" y="21812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C  Jayadeva hospital</a:t>
            </a:r>
          </a:p>
        </p:txBody>
      </p:sp>
      <p:sp>
        <p:nvSpPr>
          <p:cNvPr id="44" name="">
            <a:extLst xmlns:a="http://schemas.openxmlformats.org/drawingml/2006/main">
              <a:ext uri="{FF2B5EF4-FFF2-40B4-BE49-F238E27FC236}">
                <a16:creationId xmlns:a16="http://schemas.microsoft.com/office/drawing/2014/main" id="{C58D7FAF-C21D-4AE7-8AE9-4784B9C2CF72}"/>
              </a:ext>
            </a:extLst>
          </p:cNvPr>
          <p:cNvSpPr>
            <a:spLocks xmlns:a="http://schemas.openxmlformats.org/drawingml/2006/main" noGrp="1"/>
          </p:cNvSpPr>
          <p:nvPr/>
        </p:nvSpPr>
        <p:spPr>
          <a:xfrm xmlns:a="http://schemas.openxmlformats.org/drawingml/2006/main">
            <a:off x="7334250" y="25336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D  Sagar Hospitals</a:t>
            </a:r>
          </a:p>
        </p:txBody>
      </p:sp>
      <p:sp>
        <p:nvSpPr>
          <p:cNvPr id="45" name="">
            <a:extLst xmlns:a="http://schemas.openxmlformats.org/drawingml/2006/main">
              <a:ext uri="{FF2B5EF4-FFF2-40B4-BE49-F238E27FC236}">
                <a16:creationId xmlns:a16="http://schemas.microsoft.com/office/drawing/2014/main" id="{422BA1F6-C804-4102-80BF-B53D443DB204}"/>
              </a:ext>
            </a:extLst>
          </p:cNvPr>
          <p:cNvSpPr>
            <a:spLocks xmlns:a="http://schemas.openxmlformats.org/drawingml/2006/main" noGrp="1"/>
          </p:cNvSpPr>
          <p:nvPr/>
        </p:nvSpPr>
        <p:spPr>
          <a:xfrm xmlns:a="http://schemas.openxmlformats.org/drawingml/2006/main">
            <a:off x="7334250" y="28860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E  Jayanagar TTMC</a:t>
            </a:r>
          </a:p>
        </p:txBody>
      </p:sp>
      <p:sp>
        <p:nvSpPr>
          <p:cNvPr id="46" name="">
            <a:extLst xmlns:a="http://schemas.openxmlformats.org/drawingml/2006/main">
              <a:ext uri="{FF2B5EF4-FFF2-40B4-BE49-F238E27FC236}">
                <a16:creationId xmlns:a16="http://schemas.microsoft.com/office/drawing/2014/main" id="{B1124BCA-B057-489F-853C-EA67ED2BFA96}"/>
              </a:ext>
            </a:extLst>
          </p:cNvPr>
          <p:cNvSpPr>
            <a:spLocks xmlns:a="http://schemas.openxmlformats.org/drawingml/2006/main" noGrp="1"/>
          </p:cNvSpPr>
          <p:nvPr/>
        </p:nvSpPr>
        <p:spPr>
          <a:xfrm xmlns:a="http://schemas.openxmlformats.org/drawingml/2006/main">
            <a:off x="7334250" y="32385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F  Jayanagar metro bus stop</a:t>
            </a:r>
          </a:p>
        </p:txBody>
      </p:sp>
      <p:sp>
        <p:nvSpPr>
          <p:cNvPr id="47" name="">
            <a:extLst xmlns:a="http://schemas.openxmlformats.org/drawingml/2006/main">
              <a:ext uri="{FF2B5EF4-FFF2-40B4-BE49-F238E27FC236}">
                <a16:creationId xmlns:a16="http://schemas.microsoft.com/office/drawing/2014/main" id="{E841050B-5FB4-46A0-A2B5-4A88A410795A}"/>
              </a:ext>
            </a:extLst>
          </p:cNvPr>
          <p:cNvSpPr>
            <a:spLocks xmlns:a="http://schemas.openxmlformats.org/drawingml/2006/main" noGrp="1"/>
          </p:cNvSpPr>
          <p:nvPr/>
        </p:nvSpPr>
        <p:spPr>
          <a:xfrm xmlns:a="http://schemas.openxmlformats.org/drawingml/2006/main">
            <a:off x="7334250" y="35909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G  RV Road station reference</a:t>
            </a:r>
          </a:p>
        </p:txBody>
      </p:sp>
      <p:sp>
        <p:nvSpPr>
          <p:cNvPr id="48" name="">
            <a:extLst xmlns:a="http://schemas.openxmlformats.org/drawingml/2006/main">
              <a:ext uri="{FF2B5EF4-FFF2-40B4-BE49-F238E27FC236}">
                <a16:creationId xmlns:a16="http://schemas.microsoft.com/office/drawing/2014/main" id="{9458C466-664D-43D4-B0A5-BF6A48E6B561}"/>
              </a:ext>
            </a:extLst>
          </p:cNvPr>
          <p:cNvSpPr>
            <a:spLocks xmlns:a="http://schemas.openxmlformats.org/drawingml/2006/main" noGrp="1"/>
          </p:cNvSpPr>
          <p:nvPr/>
        </p:nvSpPr>
        <p:spPr>
          <a:xfrm xmlns:a="http://schemas.openxmlformats.org/drawingml/2006/main">
            <a:off x="7334250" y="39433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H  Banashankari bus stop</a:t>
            </a:r>
          </a:p>
        </p:txBody>
      </p:sp>
      <p:sp>
        <p:nvSpPr>
          <p:cNvPr id="49" name="">
            <a:extLst xmlns:a="http://schemas.openxmlformats.org/drawingml/2006/main">
              <a:ext uri="{FF2B5EF4-FFF2-40B4-BE49-F238E27FC236}">
                <a16:creationId xmlns:a16="http://schemas.microsoft.com/office/drawing/2014/main" id="{A3FB2213-D2C0-4B48-AA8E-E3D4E0FE1EA3}"/>
              </a:ext>
            </a:extLst>
          </p:cNvPr>
          <p:cNvSpPr>
            <a:spLocks xmlns:a="http://schemas.openxmlformats.org/drawingml/2006/main" noGrp="1"/>
          </p:cNvSpPr>
          <p:nvPr/>
        </p:nvSpPr>
        <p:spPr>
          <a:xfrm xmlns:a="http://schemas.openxmlformats.org/drawingml/2006/main">
            <a:off x="7334250" y="42957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I  Ranga Shankara</a:t>
            </a:r>
          </a:p>
        </p:txBody>
      </p:sp>
      <p:sp>
        <p:nvSpPr>
          <p:cNvPr id="50" name="">
            <a:extLst xmlns:a="http://schemas.openxmlformats.org/drawingml/2006/main">
              <a:ext uri="{FF2B5EF4-FFF2-40B4-BE49-F238E27FC236}">
                <a16:creationId xmlns:a16="http://schemas.microsoft.com/office/drawing/2014/main" id="{D15C281B-96CB-42C3-BB9B-912D37FA0C09}"/>
              </a:ext>
            </a:extLst>
          </p:cNvPr>
          <p:cNvSpPr>
            <a:spLocks xmlns:a="http://schemas.openxmlformats.org/drawingml/2006/main" noGrp="1"/>
          </p:cNvSpPr>
          <p:nvPr/>
        </p:nvSpPr>
        <p:spPr>
          <a:xfrm xmlns:a="http://schemas.openxmlformats.org/drawingml/2006/main">
            <a:off x="7334250" y="46482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J  Gopalan Innovation Mall</a:t>
            </a:r>
          </a:p>
        </p:txBody>
      </p:sp>
      <p:sp>
        <p:nvSpPr>
          <p:cNvPr id="51" name="">
            <a:extLst xmlns:a="http://schemas.openxmlformats.org/drawingml/2006/main">
              <a:ext uri="{FF2B5EF4-FFF2-40B4-BE49-F238E27FC236}">
                <a16:creationId xmlns:a16="http://schemas.microsoft.com/office/drawing/2014/main" id="{6954990D-8561-4F84-AD65-BE9B009A0EAB}"/>
              </a:ext>
            </a:extLst>
          </p:cNvPr>
          <p:cNvSpPr>
            <a:spLocks xmlns:a="http://schemas.openxmlformats.org/drawingml/2006/main" noGrp="1"/>
          </p:cNvSpPr>
          <p:nvPr/>
        </p:nvSpPr>
        <p:spPr>
          <a:xfrm xmlns:a="http://schemas.openxmlformats.org/drawingml/2006/main">
            <a:off x="7334250" y="50006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K  Ragigudda Temple</a:t>
            </a:r>
          </a:p>
        </p:txBody>
      </p:sp>
      <p:sp>
        <p:nvSpPr>
          <p:cNvPr id="52" name="">
            <a:extLst xmlns:a="http://schemas.openxmlformats.org/drawingml/2006/main">
              <a:ext uri="{FF2B5EF4-FFF2-40B4-BE49-F238E27FC236}">
                <a16:creationId xmlns:a16="http://schemas.microsoft.com/office/drawing/2014/main" id="{776B782F-EB5A-44C3-ADD6-B64A258209B0}"/>
              </a:ext>
            </a:extLst>
          </p:cNvPr>
          <p:cNvSpPr>
            <a:spLocks xmlns:a="http://schemas.openxmlformats.org/drawingml/2006/main" noGrp="1"/>
          </p:cNvSpPr>
          <p:nvPr/>
        </p:nvSpPr>
        <p:spPr>
          <a:xfrm xmlns:a="http://schemas.openxmlformats.org/drawingml/2006/main">
            <a:off x="7334250" y="53530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L  NIMHANS hospital reference</a:t>
            </a:r>
          </a:p>
        </p:txBody>
      </p:sp>
      <p:sp>
        <p:nvSpPr>
          <p:cNvPr id="53" name="">
            <a:extLst xmlns:a="http://schemas.openxmlformats.org/drawingml/2006/main">
              <a:ext uri="{FF2B5EF4-FFF2-40B4-BE49-F238E27FC236}">
                <a16:creationId xmlns:a16="http://schemas.microsoft.com/office/drawing/2014/main" id="{C3C27117-2B58-4E17-B005-47015773D45B}"/>
              </a:ext>
            </a:extLst>
          </p:cNvPr>
          <p:cNvSpPr>
            <a:spLocks xmlns:a="http://schemas.openxmlformats.org/drawingml/2006/main" noGrp="1"/>
          </p:cNvSpPr>
          <p:nvPr/>
        </p:nvSpPr>
        <p:spPr>
          <a:xfrm xmlns:a="http://schemas.openxmlformats.org/drawingml/2006/main">
            <a:off x="7334250" y="57054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B33"/>
                </a:solidFill>
                <a:latin typeface="Arial"/>
                <a:ea typeface="Arial"/>
                <a:cs typeface="Arial"/>
              </a:defRPr>
            </a:defPPr>
            <a:lvl1pPr>
              <a:defRPr sz="1575" b="0">
                <a:solidFill>
                  <a:srgbClr val="142B33"/>
                </a:solidFill>
                <a:latin typeface="Arial"/>
                <a:ea typeface="Arial"/>
                <a:cs typeface="Arial"/>
              </a:defRPr>
            </a:lvl1pPr>
            <a:lvl2pPr>
              <a:defRPr sz="1575" b="0">
                <a:solidFill>
                  <a:srgbClr val="142B33"/>
                </a:solidFill>
                <a:latin typeface="Arial"/>
                <a:ea typeface="Arial"/>
                <a:cs typeface="Arial"/>
              </a:defRPr>
            </a:lvl2pPr>
            <a:lvl3pPr>
              <a:defRPr sz="1575" b="0">
                <a:solidFill>
                  <a:srgbClr val="142B33"/>
                </a:solidFill>
                <a:latin typeface="Arial"/>
                <a:ea typeface="Arial"/>
                <a:cs typeface="Arial"/>
              </a:defRPr>
            </a:lvl3pPr>
            <a:lvl4pPr>
              <a:defRPr sz="1575" b="0">
                <a:solidFill>
                  <a:srgbClr val="142B33"/>
                </a:solidFill>
                <a:latin typeface="Arial"/>
                <a:ea typeface="Arial"/>
                <a:cs typeface="Arial"/>
              </a:defRPr>
            </a:lvl4pPr>
            <a:lvl5pPr>
              <a:defRPr sz="1575" b="0">
                <a:solidFill>
                  <a:srgbClr val="142B33"/>
                </a:solidFill>
                <a:latin typeface="Arial"/>
                <a:ea typeface="Arial"/>
                <a:cs typeface="Arial"/>
              </a:defRPr>
            </a:lvl5pPr>
            <a:lvl6pPr>
              <a:defRPr sz="1575" b="0">
                <a:solidFill>
                  <a:srgbClr val="142B33"/>
                </a:solidFill>
                <a:latin typeface="Arial"/>
                <a:ea typeface="Arial"/>
                <a:cs typeface="Arial"/>
              </a:defRPr>
            </a:lvl6pPr>
            <a:lvl7pPr>
              <a:defRPr sz="1575" b="0">
                <a:solidFill>
                  <a:srgbClr val="142B33"/>
                </a:solidFill>
                <a:latin typeface="Arial"/>
                <a:ea typeface="Arial"/>
                <a:cs typeface="Arial"/>
              </a:defRPr>
            </a:lvl7pPr>
            <a:lvl8pPr>
              <a:defRPr sz="1575" b="0">
                <a:solidFill>
                  <a:srgbClr val="142B33"/>
                </a:solidFill>
                <a:latin typeface="Arial"/>
                <a:ea typeface="Arial"/>
                <a:cs typeface="Arial"/>
              </a:defRPr>
            </a:lvl8pPr>
            <a:lvl9pPr>
              <a:defRPr sz="1575" b="0">
                <a:solidFill>
                  <a:srgbClr val="142B33"/>
                </a:solidFill>
                <a:latin typeface="Arial"/>
                <a:ea typeface="Arial"/>
                <a:cs typeface="Arial"/>
              </a:defRPr>
            </a:lvl9pPr>
          </a:lstStyle>
          <a:p xmlns:a="http://schemas.openxmlformats.org/drawingml/2006/main">
            <a:pPr>
              <a:defRPr sz="1575" b="0">
                <a:solidFill>
                  <a:srgbClr val="142B33"/>
                </a:solidFill>
                <a:latin typeface="Arial"/>
                <a:ea typeface="Arial"/>
                <a:cs typeface="Arial"/>
              </a:defRPr>
            </a:pPr>
            <a:r>
              <a:rPr sz="1575" b="0">
                <a:solidFill>
                  <a:srgbClr val="142B33"/>
                </a:solidFill>
                <a:latin typeface="Arial"/>
                <a:ea typeface="Arial"/>
                <a:cs typeface="Arial"/>
              </a:rPr>
              <a:t>M  Manipal Hospital, Jayanagar</a:t>
            </a:r>
          </a:p>
        </p:txBody>
      </p:sp>
    </p:spTree>
    <p:extLst>
      <p:ext uri="{BB962C8B-B14F-4D97-AF65-F5344CB8AC3E}">
        <p14:creationId xmlns:p14="http://schemas.microsoft.com/office/powerpoint/2010/main" val="351812064"/>
      </p:ext>
    </p:extLst>
  </p:cSld>
</p:sld>
</file>

<file path=ppt/slides/slide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68D53F-5ABF-4B9E-A689-BE5EE64111B5}"/>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Model assumptions</a:t>
            </a:r>
          </a:p>
        </p:txBody>
      </p:sp>
      <p:sp>
        <p:nvSpPr>
          <p:cNvPr id="2" name="">
            <a:extLst xmlns:a="http://schemas.openxmlformats.org/drawingml/2006/main">
              <a:ext uri="{FF2B5EF4-FFF2-40B4-BE49-F238E27FC236}">
                <a16:creationId xmlns:a16="http://schemas.microsoft.com/office/drawing/2014/main" id="{7BEF5B87-98AF-40D1-9404-93ECDC20C74A}"/>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928DCE8E-79B8-427F-8455-EBB50A68C79C}"/>
              </a:ext>
            </a:extLst>
          </p:cNvPr>
          <p:cNvSpPr>
            <a:spLocks xmlns:a="http://schemas.openxmlformats.org/drawingml/2006/main" noGrp="1"/>
          </p:cNvSpPr>
          <p:nvPr/>
        </p:nvSpPr>
        <p:spPr>
          <a:xfrm xmlns:a="http://schemas.openxmlformats.org/drawingml/2006/main">
            <a:off x="666750" y="16668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Directed weights represent selected OSRM road-route corridors. Reverse costs are independently sourced.</a:t>
            </a:r>
          </a:p>
        </p:txBody>
      </p:sp>
      <p:sp>
        <p:nvSpPr>
          <p:cNvPr id="4" name="">
            <a:extLst xmlns:a="http://schemas.openxmlformats.org/drawingml/2006/main">
              <a:ext uri="{FF2B5EF4-FFF2-40B4-BE49-F238E27FC236}">
                <a16:creationId xmlns:a16="http://schemas.microsoft.com/office/drawing/2014/main" id="{F7677358-30D9-4E18-BCEA-925829C506A5}"/>
              </a:ext>
            </a:extLst>
          </p:cNvPr>
          <p:cNvSpPr>
            <a:spLocks xmlns:a="http://schemas.openxmlformats.org/drawingml/2006/main" noGrp="1"/>
          </p:cNvSpPr>
          <p:nvPr/>
        </p:nvSpPr>
        <p:spPr>
          <a:xfrm xmlns:a="http://schemas.openxmlformats.org/drawingml/2006/main">
            <a:off x="666750" y="29527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Distance is measured along those profile-selected routes. Time is a static profile estimate, not live traffic.</a:t>
            </a:r>
          </a:p>
        </p:txBody>
      </p:sp>
      <p:sp>
        <p:nvSpPr>
          <p:cNvPr id="5" name="">
            <a:extLst xmlns:a="http://schemas.openxmlformats.org/drawingml/2006/main">
              <a:ext uri="{FF2B5EF4-FFF2-40B4-BE49-F238E27FC236}">
                <a16:creationId xmlns:a16="http://schemas.microsoft.com/office/drawing/2014/main" id="{12955DAC-E9FE-4006-8641-4A1259F3E8F1}"/>
              </a:ext>
            </a:extLst>
          </p:cNvPr>
          <p:cNvSpPr>
            <a:spLocks xmlns:a="http://schemas.openxmlformats.org/drawingml/2006/main" noGrp="1"/>
          </p:cNvSpPr>
          <p:nvPr/>
        </p:nvSpPr>
        <p:spPr>
          <a:xfrm xmlns:a="http://schemas.openxmlformats.org/drawingml/2006/main">
            <a:off x="666750" y="42386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Road reference points are used consistently. Hospital entrances, last-mile access and turn history across joins are not verified.</a:t>
            </a:r>
          </a:p>
        </p:txBody>
      </p:sp>
    </p:spTree>
    <p:extLst>
      <p:ext uri="{BB962C8B-B14F-4D97-AF65-F5344CB8AC3E}">
        <p14:creationId xmlns:p14="http://schemas.microsoft.com/office/powerpoint/2010/main" val="1727589366"/>
      </p:ext>
    </p:extLst>
  </p:cSld>
</p:sld>
</file>

<file path=ppt/slides/slide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44D75C-EA5D-4B8C-AD77-56136F3596A2}"/>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Manual Dijkstra: A to C</a:t>
            </a:r>
          </a:p>
        </p:txBody>
      </p:sp>
      <p:sp>
        <p:nvSpPr>
          <p:cNvPr id="2" name="">
            <a:extLst xmlns:a="http://schemas.openxmlformats.org/drawingml/2006/main">
              <a:ext uri="{FF2B5EF4-FFF2-40B4-BE49-F238E27FC236}">
                <a16:creationId xmlns:a16="http://schemas.microsoft.com/office/drawing/2014/main" id="{87BA9878-58FD-4F56-96A5-9E849939E24A}"/>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4</a:t>
            </a:r>
          </a:p>
        </p:txBody>
      </p:sp>
      <p:graphicFrame>
        <p:nvGraphicFramePr>
          <p:cNvPr id="3" name="">
            <a:extLst xmlns:a="http://schemas.openxmlformats.org/drawingml/2006/main">
              <a:ext uri="{FF2B5EF4-FFF2-40B4-BE49-F238E27FC236}">
                <a16:creationId xmlns:a16="http://schemas.microsoft.com/office/drawing/2014/main" id="{493F6703-83B1-4684-90A2-6376D311A46C}"/>
              </a:ext>
            </a:extLst>
          </p:cNvPr>
          <p:cNvGraphicFramePr/>
          <p:nvPr/>
        </p:nvGraphicFramePr>
        <p:xfrm>
          <a:off xmlns:a="http://schemas.openxmlformats.org/drawingml/2006/main" x="619125" y="1619250"/>
          <a:ext xmlns:a="http://schemas.openxmlformats.org/drawingml/2006/main" cx="10953750" cy="2952750"/>
        </p:xfrm>
        <a:graphic xmlns:a="http://schemas.openxmlformats.org/drawingml/2006/main">
          <a:graphicData uri="http://schemas.openxmlformats.org/drawingml/2006/table">
            <a:tbl>
              <a:tblPr/>
              <a:tblGrid>
                <a:gridCol w="952500"/>
                <a:gridCol w="1238250"/>
                <a:gridCol w="1714500"/>
                <a:gridCol w="7048500"/>
              </a:tblGrid>
              <a:tr h="492125">
                <a:tc>
                  <a:txBody>
                    <a:bodyPr/>
                    <a:lstStyle/>
                    <a:p>
                      <a:r>
                        <a:rPr sz="1725" b="1">
                          <a:solidFill>
                            <a:srgbClr val="142B33"/>
                          </a:solidFill>
                          <a:latin typeface="Arial"/>
                          <a:ea typeface="Arial"/>
                          <a:cs typeface="Arial"/>
                        </a:rPr>
                        <a:t>Step</a:t>
                      </a:r>
                    </a:p>
                  </a:txBody>
                  <a:tcPr marL="91440" marR="91440" marT="45720" marB="45720">
                    <a:solidFill>
                      <a:srgbClr val="E5EEEA"/>
                    </a:solidFill>
                  </a:tcPr>
                </a:tc>
                <a:tc>
                  <a:txBody>
                    <a:bodyPr/>
                    <a:lstStyle/>
                    <a:p>
                      <a:r>
                        <a:rPr sz="1725" b="1">
                          <a:solidFill>
                            <a:srgbClr val="142B33"/>
                          </a:solidFill>
                          <a:latin typeface="Arial"/>
                          <a:ea typeface="Arial"/>
                          <a:cs typeface="Arial"/>
                        </a:rPr>
                        <a:t>Settle</a:t>
                      </a:r>
                    </a:p>
                  </a:txBody>
                  <a:tcPr marL="91440" marR="91440" marT="45720" marB="45720">
                    <a:solidFill>
                      <a:srgbClr val="E5EEEA"/>
                    </a:solidFill>
                  </a:tcPr>
                </a:tc>
                <a:tc>
                  <a:txBody>
                    <a:bodyPr/>
                    <a:lstStyle/>
                    <a:p>
                      <a:r>
                        <a:rPr sz="1725" b="1">
                          <a:solidFill>
                            <a:srgbClr val="142B33"/>
                          </a:solidFill>
                          <a:latin typeface="Arial"/>
                          <a:ea typeface="Arial"/>
                          <a:cs typeface="Arial"/>
                        </a:rPr>
                        <a:t>Cost (m)</a:t>
                      </a:r>
                    </a:p>
                  </a:txBody>
                  <a:tcPr marL="91440" marR="91440" marT="45720" marB="45720">
                    <a:solidFill>
                      <a:srgbClr val="E5EEEA"/>
                    </a:solidFill>
                  </a:tcPr>
                </a:tc>
                <a:tc>
                  <a:txBody>
                    <a:bodyPr/>
                    <a:lstStyle/>
                    <a:p>
                      <a:r>
                        <a:rPr sz="1725" b="1">
                          <a:solidFill>
                            <a:srgbClr val="142B33"/>
                          </a:solidFill>
                          <a:latin typeface="Arial"/>
                          <a:ea typeface="Arial"/>
                          <a:cs typeface="Arial"/>
                        </a:rPr>
                        <a:t>Improved labels</a:t>
                      </a:r>
                    </a:p>
                  </a:txBody>
                  <a:tcPr marL="91440" marR="91440" marT="45720" marB="45720">
                    <a:solidFill>
                      <a:srgbClr val="E5EEEA"/>
                    </a:solidFill>
                  </a:tcPr>
                </a:tc>
              </a:tr>
              <a:tr h="492125">
                <a:tc>
                  <a:txBody>
                    <a:bodyPr/>
                    <a:lstStyle/>
                    <a:p>
                      <a:r>
                        <a:rPr sz="1725" b="0">
                          <a:solidFill>
                            <a:srgbClr val="142B33"/>
                          </a:solidFill>
                          <a:latin typeface="Arial"/>
                          <a:ea typeface="Arial"/>
                          <a:cs typeface="Arial"/>
                        </a:rPr>
                        <a:t>1</a:t>
                      </a:r>
                    </a:p>
                  </a:txBody>
                  <a:tcPr marL="91440" marR="91440" marT="45720" marB="45720">
                    <a:solidFill>
                      <a:srgbClr val="F8F6F0"/>
                    </a:solidFill>
                  </a:tcPr>
                </a:tc>
                <a:tc>
                  <a:txBody>
                    <a:bodyPr/>
                    <a:lstStyle/>
                    <a:p>
                      <a:r>
                        <a:rPr sz="1725" b="0">
                          <a:solidFill>
                            <a:srgbClr val="142B33"/>
                          </a:solidFill>
                          <a:latin typeface="Arial"/>
                          <a:ea typeface="Arial"/>
                          <a:cs typeface="Arial"/>
                        </a:rPr>
                        <a:t>A</a:t>
                      </a:r>
                    </a:p>
                  </a:txBody>
                  <a:tcPr marL="91440" marR="91440" marT="45720" marB="45720">
                    <a:solidFill>
                      <a:srgbClr val="F8F6F0"/>
                    </a:solidFill>
                  </a:tcPr>
                </a:tc>
                <a:tc>
                  <a:txBody>
                    <a:bodyPr/>
                    <a:lstStyle/>
                    <a:p>
                      <a:r>
                        <a:rPr sz="1725" b="0">
                          <a:solidFill>
                            <a:srgbClr val="142B33"/>
                          </a:solidFill>
                          <a:latin typeface="Arial"/>
                          <a:ea typeface="Arial"/>
                          <a:cs typeface="Arial"/>
                        </a:rPr>
                        <a:t>0.0</a:t>
                      </a:r>
                    </a:p>
                  </a:txBody>
                  <a:tcPr marL="91440" marR="91440" marT="45720" marB="45720">
                    <a:solidFill>
                      <a:srgbClr val="F8F6F0"/>
                    </a:solidFill>
                  </a:tcPr>
                </a:tc>
                <a:tc>
                  <a:txBody>
                    <a:bodyPr/>
                    <a:lstStyle/>
                    <a:p>
                      <a:r>
                        <a:rPr sz="1725" b="0">
                          <a:solidFill>
                            <a:srgbClr val="142B33"/>
                          </a:solidFill>
                          <a:latin typeface="Arial"/>
                          <a:ea typeface="Arial"/>
                          <a:cs typeface="Arial"/>
                        </a:rPr>
                        <a:t>B, G, K, M</a:t>
                      </a:r>
                    </a:p>
                  </a:txBody>
                  <a:tcPr marL="91440" marR="91440" marT="45720" marB="45720">
                    <a:solidFill>
                      <a:srgbClr val="F8F6F0"/>
                    </a:solidFill>
                  </a:tcPr>
                </a:tc>
              </a:tr>
              <a:tr h="492125">
                <a:tc>
                  <a:txBody>
                    <a:bodyPr/>
                    <a:lstStyle/>
                    <a:p>
                      <a:r>
                        <a:rPr sz="1725" b="0">
                          <a:solidFill>
                            <a:srgbClr val="142B33"/>
                          </a:solidFill>
                          <a:latin typeface="Arial"/>
                          <a:ea typeface="Arial"/>
                          <a:cs typeface="Arial"/>
                        </a:rPr>
                        <a:t>2</a:t>
                      </a:r>
                    </a:p>
                  </a:txBody>
                  <a:tcPr marL="91440" marR="91440" marT="45720" marB="45720">
                    <a:solidFill>
                      <a:srgbClr val="F8F6F0"/>
                    </a:solidFill>
                  </a:tcPr>
                </a:tc>
                <a:tc>
                  <a:txBody>
                    <a:bodyPr/>
                    <a:lstStyle/>
                    <a:p>
                      <a:r>
                        <a:rPr sz="1725" b="0">
                          <a:solidFill>
                            <a:srgbClr val="142B33"/>
                          </a:solidFill>
                          <a:latin typeface="Arial"/>
                          <a:ea typeface="Arial"/>
                          <a:cs typeface="Arial"/>
                        </a:rPr>
                        <a:t>B</a:t>
                      </a:r>
                    </a:p>
                  </a:txBody>
                  <a:tcPr marL="91440" marR="91440" marT="45720" marB="45720">
                    <a:solidFill>
                      <a:srgbClr val="F8F6F0"/>
                    </a:solidFill>
                  </a:tcPr>
                </a:tc>
                <a:tc>
                  <a:txBody>
                    <a:bodyPr/>
                    <a:lstStyle/>
                    <a:p>
                      <a:r>
                        <a:rPr sz="1725" b="0">
                          <a:solidFill>
                            <a:srgbClr val="142B33"/>
                          </a:solidFill>
                          <a:latin typeface="Arial"/>
                          <a:ea typeface="Arial"/>
                          <a:cs typeface="Arial"/>
                        </a:rPr>
                        <a:t>618.5</a:t>
                      </a:r>
                    </a:p>
                  </a:txBody>
                  <a:tcPr marL="91440" marR="91440" marT="45720" marB="45720">
                    <a:solidFill>
                      <a:srgbClr val="F8F6F0"/>
                    </a:solidFill>
                  </a:tcPr>
                </a:tc>
                <a:tc>
                  <a:txBody>
                    <a:bodyPr/>
                    <a:lstStyle/>
                    <a:p>
                      <a:r>
                        <a:rPr sz="1725" b="0">
                          <a:solidFill>
                            <a:srgbClr val="142B33"/>
                          </a:solidFill>
                          <a:latin typeface="Arial"/>
                          <a:ea typeface="Arial"/>
                          <a:cs typeface="Arial"/>
                        </a:rPr>
                        <a:t>C, J</a:t>
                      </a:r>
                    </a:p>
                  </a:txBody>
                  <a:tcPr marL="91440" marR="91440" marT="45720" marB="45720">
                    <a:solidFill>
                      <a:srgbClr val="F8F6F0"/>
                    </a:solidFill>
                  </a:tcPr>
                </a:tc>
              </a:tr>
              <a:tr h="492125">
                <a:tc>
                  <a:txBody>
                    <a:bodyPr/>
                    <a:lstStyle/>
                    <a:p>
                      <a:r>
                        <a:rPr sz="1725" b="0">
                          <a:solidFill>
                            <a:srgbClr val="142B33"/>
                          </a:solidFill>
                          <a:latin typeface="Arial"/>
                          <a:ea typeface="Arial"/>
                          <a:cs typeface="Arial"/>
                        </a:rPr>
                        <a:t>3</a:t>
                      </a:r>
                    </a:p>
                  </a:txBody>
                  <a:tcPr marL="91440" marR="91440" marT="45720" marB="45720">
                    <a:solidFill>
                      <a:srgbClr val="F8F6F0"/>
                    </a:solidFill>
                  </a:tcPr>
                </a:tc>
                <a:tc>
                  <a:txBody>
                    <a:bodyPr/>
                    <a:lstStyle/>
                    <a:p>
                      <a:r>
                        <a:rPr sz="1725" b="0">
                          <a:solidFill>
                            <a:srgbClr val="142B33"/>
                          </a:solidFill>
                          <a:latin typeface="Arial"/>
                          <a:ea typeface="Arial"/>
                          <a:cs typeface="Arial"/>
                        </a:rPr>
                        <a:t>M</a:t>
                      </a:r>
                    </a:p>
                  </a:txBody>
                  <a:tcPr marL="91440" marR="91440" marT="45720" marB="45720">
                    <a:solidFill>
                      <a:srgbClr val="F8F6F0"/>
                    </a:solidFill>
                  </a:tcPr>
                </a:tc>
                <a:tc>
                  <a:txBody>
                    <a:bodyPr/>
                    <a:lstStyle/>
                    <a:p>
                      <a:r>
                        <a:rPr sz="1725" b="0">
                          <a:solidFill>
                            <a:srgbClr val="142B33"/>
                          </a:solidFill>
                          <a:latin typeface="Arial"/>
                          <a:ea typeface="Arial"/>
                          <a:cs typeface="Arial"/>
                        </a:rPr>
                        <a:t>779.5</a:t>
                      </a:r>
                    </a:p>
                  </a:txBody>
                  <a:tcPr marL="91440" marR="91440" marT="45720" marB="45720">
                    <a:solidFill>
                      <a:srgbClr val="F8F6F0"/>
                    </a:solidFill>
                  </a:tcPr>
                </a:tc>
                <a:tc>
                  <a:txBody>
                    <a:bodyPr/>
                    <a:lstStyle/>
                    <a:p>
                      <a:r>
                        <a:rPr sz="1725" b="0">
                          <a:solidFill>
                            <a:srgbClr val="142B33"/>
                          </a:solidFill>
                          <a:latin typeface="Arial"/>
                          <a:ea typeface="Arial"/>
                          <a:cs typeface="Arial"/>
                        </a:rPr>
                        <a:t>Target settled</a:t>
                      </a:r>
                    </a:p>
                  </a:txBody>
                  <a:tcPr marL="91440" marR="91440" marT="45720" marB="45720">
                    <a:solidFill>
                      <a:srgbClr val="F8F6F0"/>
                    </a:solidFill>
                  </a:tcPr>
                </a:tc>
              </a:tr>
              <a:tr h="492125">
                <a:tc>
                  <a:txBody>
                    <a:bodyPr/>
                    <a:lstStyle/>
                    <a:p>
                      <a:r>
                        <a:rPr sz="1725" b="0">
                          <a:solidFill>
                            <a:srgbClr val="142B33"/>
                          </a:solidFill>
                          <a:latin typeface="Arial"/>
                          <a:ea typeface="Arial"/>
                          <a:cs typeface="Arial"/>
                        </a:rPr>
                        <a:t>4</a:t>
                      </a:r>
                    </a:p>
                  </a:txBody>
                  <a:tcPr marL="91440" marR="91440" marT="45720" marB="45720">
                    <a:solidFill>
                      <a:srgbClr val="F8F6F0"/>
                    </a:solidFill>
                  </a:tcPr>
                </a:tc>
                <a:tc>
                  <a:txBody>
                    <a:bodyPr/>
                    <a:lstStyle/>
                    <a:p>
                      <a:r>
                        <a:rPr sz="1725" b="0">
                          <a:solidFill>
                            <a:srgbClr val="142B33"/>
                          </a:solidFill>
                          <a:latin typeface="Arial"/>
                          <a:ea typeface="Arial"/>
                          <a:cs typeface="Arial"/>
                        </a:rPr>
                        <a:t>K</a:t>
                      </a:r>
                    </a:p>
                  </a:txBody>
                  <a:tcPr marL="91440" marR="91440" marT="45720" marB="45720">
                    <a:solidFill>
                      <a:srgbClr val="F8F6F0"/>
                    </a:solidFill>
                  </a:tcPr>
                </a:tc>
                <a:tc>
                  <a:txBody>
                    <a:bodyPr/>
                    <a:lstStyle/>
                    <a:p>
                      <a:r>
                        <a:rPr sz="1725" b="0">
                          <a:solidFill>
                            <a:srgbClr val="142B33"/>
                          </a:solidFill>
                          <a:latin typeface="Arial"/>
                          <a:ea typeface="Arial"/>
                          <a:cs typeface="Arial"/>
                        </a:rPr>
                        <a:t>829.9</a:t>
                      </a:r>
                    </a:p>
                  </a:txBody>
                  <a:tcPr marL="91440" marR="91440" marT="45720" marB="45720">
                    <a:solidFill>
                      <a:srgbClr val="F8F6F0"/>
                    </a:solidFill>
                  </a:tcPr>
                </a:tc>
                <a:tc>
                  <a:txBody>
                    <a:bodyPr/>
                    <a:lstStyle/>
                    <a:p>
                      <a:r>
                        <a:rPr sz="1725" b="0">
                          <a:solidFill>
                            <a:srgbClr val="142B33"/>
                          </a:solidFill>
                          <a:latin typeface="Arial"/>
                          <a:ea typeface="Arial"/>
                          <a:cs typeface="Arial"/>
                        </a:rPr>
                        <a:t>I, J</a:t>
                      </a:r>
                    </a:p>
                  </a:txBody>
                  <a:tcPr marL="91440" marR="91440" marT="45720" marB="45720">
                    <a:solidFill>
                      <a:srgbClr val="F8F6F0"/>
                    </a:solidFill>
                  </a:tcPr>
                </a:tc>
              </a:tr>
              <a:tr h="492125">
                <a:tc>
                  <a:txBody>
                    <a:bodyPr/>
                    <a:lstStyle/>
                    <a:p>
                      <a:r>
                        <a:rPr sz="1725" b="0">
                          <a:solidFill>
                            <a:srgbClr val="142B33"/>
                          </a:solidFill>
                          <a:latin typeface="Arial"/>
                          <a:ea typeface="Arial"/>
                          <a:cs typeface="Arial"/>
                        </a:rPr>
                        <a:t>5</a:t>
                      </a:r>
                    </a:p>
                  </a:txBody>
                  <a:tcPr marL="91440" marR="91440" marT="45720" marB="45720">
                    <a:solidFill>
                      <a:srgbClr val="F8F6F0"/>
                    </a:solidFill>
                  </a:tcPr>
                </a:tc>
                <a:tc>
                  <a:txBody>
                    <a:bodyPr/>
                    <a:lstStyle/>
                    <a:p>
                      <a:r>
                        <a:rPr sz="1725" b="0">
                          <a:solidFill>
                            <a:srgbClr val="142B33"/>
                          </a:solidFill>
                          <a:latin typeface="Arial"/>
                          <a:ea typeface="Arial"/>
                          <a:cs typeface="Arial"/>
                        </a:rPr>
                        <a:t>C</a:t>
                      </a:r>
                    </a:p>
                  </a:txBody>
                  <a:tcPr marL="91440" marR="91440" marT="45720" marB="45720">
                    <a:solidFill>
                      <a:srgbClr val="F8F6F0"/>
                    </a:solidFill>
                  </a:tcPr>
                </a:tc>
                <a:tc>
                  <a:txBody>
                    <a:bodyPr/>
                    <a:lstStyle/>
                    <a:p>
                      <a:r>
                        <a:rPr sz="1725" b="0">
                          <a:solidFill>
                            <a:srgbClr val="142B33"/>
                          </a:solidFill>
                          <a:latin typeface="Arial"/>
                          <a:ea typeface="Arial"/>
                          <a:cs typeface="Arial"/>
                        </a:rPr>
                        <a:t>1497.0</a:t>
                      </a:r>
                    </a:p>
                  </a:txBody>
                  <a:tcPr marL="91440" marR="91440" marT="45720" marB="45720">
                    <a:solidFill>
                      <a:srgbClr val="F8F6F0"/>
                    </a:solidFill>
                  </a:tcPr>
                </a:tc>
                <a:tc>
                  <a:txBody>
                    <a:bodyPr/>
                    <a:lstStyle/>
                    <a:p>
                      <a:r>
                        <a:rPr sz="1725" b="0">
                          <a:solidFill>
                            <a:srgbClr val="142B33"/>
                          </a:solidFill>
                          <a:latin typeface="Arial"/>
                          <a:ea typeface="Arial"/>
                          <a:cs typeface="Arial"/>
                        </a:rPr>
                        <a:t>Target settled</a:t>
                      </a:r>
                    </a:p>
                  </a:txBody>
                  <a:tcPr marL="91440" marR="91440" marT="45720" marB="45720">
                    <a:solidFill>
                      <a:srgbClr val="F8F6F0"/>
                    </a:solidFill>
                  </a:tcPr>
                </a:tc>
              </a:tr>
            </a:tbl>
          </a:graphicData>
        </a:graphic>
      </p:graphicFrame>
      <p:sp>
        <p:nvSpPr>
          <p:cNvPr id="4" name="">
            <a:extLst xmlns:a="http://schemas.openxmlformats.org/drawingml/2006/main">
              <a:ext uri="{FF2B5EF4-FFF2-40B4-BE49-F238E27FC236}">
                <a16:creationId xmlns:a16="http://schemas.microsoft.com/office/drawing/2014/main" id="{63A6C6B4-C09C-41CE-B11C-5C05C610052B}"/>
              </a:ext>
            </a:extLst>
          </p:cNvPr>
          <p:cNvSpPr>
            <a:spLocks xmlns:a="http://schemas.openxmlformats.org/drawingml/2006/main" noGrp="1"/>
          </p:cNvSpPr>
          <p:nvPr/>
        </p:nvSpPr>
        <p:spPr>
          <a:xfrm xmlns:a="http://schemas.openxmlformats.org/drawingml/2006/main">
            <a:off x="714375" y="4953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685D"/>
                </a:solidFill>
                <a:latin typeface="Arial"/>
                <a:ea typeface="Arial"/>
                <a:cs typeface="Arial"/>
              </a:defRPr>
            </a:defPPr>
            <a:lvl1pPr>
              <a:defRPr sz="2400" b="1">
                <a:solidFill>
                  <a:srgbClr val="00685D"/>
                </a:solidFill>
                <a:latin typeface="Arial"/>
                <a:ea typeface="Arial"/>
                <a:cs typeface="Arial"/>
              </a:defRPr>
            </a:lvl1pPr>
            <a:lvl2pPr>
              <a:defRPr sz="2400" b="1">
                <a:solidFill>
                  <a:srgbClr val="00685D"/>
                </a:solidFill>
                <a:latin typeface="Arial"/>
                <a:ea typeface="Arial"/>
                <a:cs typeface="Arial"/>
              </a:defRPr>
            </a:lvl2pPr>
            <a:lvl3pPr>
              <a:defRPr sz="2400" b="1">
                <a:solidFill>
                  <a:srgbClr val="00685D"/>
                </a:solidFill>
                <a:latin typeface="Arial"/>
                <a:ea typeface="Arial"/>
                <a:cs typeface="Arial"/>
              </a:defRPr>
            </a:lvl3pPr>
            <a:lvl4pPr>
              <a:defRPr sz="2400" b="1">
                <a:solidFill>
                  <a:srgbClr val="00685D"/>
                </a:solidFill>
                <a:latin typeface="Arial"/>
                <a:ea typeface="Arial"/>
                <a:cs typeface="Arial"/>
              </a:defRPr>
            </a:lvl4pPr>
            <a:lvl5pPr>
              <a:defRPr sz="2400" b="1">
                <a:solidFill>
                  <a:srgbClr val="00685D"/>
                </a:solidFill>
                <a:latin typeface="Arial"/>
                <a:ea typeface="Arial"/>
                <a:cs typeface="Arial"/>
              </a:defRPr>
            </a:lvl5pPr>
            <a:lvl6pPr>
              <a:defRPr sz="2400" b="1">
                <a:solidFill>
                  <a:srgbClr val="00685D"/>
                </a:solidFill>
                <a:latin typeface="Arial"/>
                <a:ea typeface="Arial"/>
                <a:cs typeface="Arial"/>
              </a:defRPr>
            </a:lvl6pPr>
            <a:lvl7pPr>
              <a:defRPr sz="2400" b="1">
                <a:solidFill>
                  <a:srgbClr val="00685D"/>
                </a:solidFill>
                <a:latin typeface="Arial"/>
                <a:ea typeface="Arial"/>
                <a:cs typeface="Arial"/>
              </a:defRPr>
            </a:lvl7pPr>
            <a:lvl8pPr>
              <a:defRPr sz="2400" b="1">
                <a:solidFill>
                  <a:srgbClr val="00685D"/>
                </a:solidFill>
                <a:latin typeface="Arial"/>
                <a:ea typeface="Arial"/>
                <a:cs typeface="Arial"/>
              </a:defRPr>
            </a:lvl8pPr>
            <a:lvl9pPr>
              <a:defRPr sz="2400" b="1">
                <a:solidFill>
                  <a:srgbClr val="00685D"/>
                </a:solidFill>
                <a:latin typeface="Arial"/>
                <a:ea typeface="Arial"/>
                <a:cs typeface="Arial"/>
              </a:defRPr>
            </a:lvl9pPr>
          </a:lstStyle>
          <a:p xmlns:a="http://schemas.openxmlformats.org/drawingml/2006/main">
            <a:pPr>
              <a:defRPr sz="2400" b="1">
                <a:solidFill>
                  <a:srgbClr val="00685D"/>
                </a:solidFill>
                <a:latin typeface="Arial"/>
                <a:ea typeface="Arial"/>
                <a:cs typeface="Arial"/>
              </a:defRPr>
            </a:pPr>
            <a:r>
              <a:rPr sz="2400" b="1">
                <a:solidFill>
                  <a:srgbClr val="00685D"/>
                </a:solidFill>
                <a:latin typeface="Arial"/>
                <a:ea typeface="Arial"/>
                <a:cs typeface="Arial"/>
              </a:rPr>
              <a:t>Reconstruct C ← B ← A, then reverse: A → B → C</a:t>
            </a:r>
          </a:p>
        </p:txBody>
      </p:sp>
      <p:sp>
        <p:nvSpPr>
          <p:cNvPr id="5" name="">
            <a:extLst xmlns:a="http://schemas.openxmlformats.org/drawingml/2006/main">
              <a:ext uri="{FF2B5EF4-FFF2-40B4-BE49-F238E27FC236}">
                <a16:creationId xmlns:a16="http://schemas.microsoft.com/office/drawing/2014/main" id="{952F20CC-3650-42F2-916F-27CD0A0683D2}"/>
              </a:ext>
            </a:extLst>
          </p:cNvPr>
          <p:cNvSpPr>
            <a:spLocks xmlns:a="http://schemas.openxmlformats.org/drawingml/2006/main" noGrp="1"/>
          </p:cNvSpPr>
          <p:nvPr/>
        </p:nvSpPr>
        <p:spPr>
          <a:xfrm xmlns:a="http://schemas.openxmlformats.org/drawingml/2006/main">
            <a:off x="714375" y="55721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B33"/>
                </a:solidFill>
                <a:latin typeface="Arial"/>
                <a:ea typeface="Arial"/>
                <a:cs typeface="Arial"/>
              </a:defRPr>
            </a:defPPr>
            <a:lvl1pPr>
              <a:defRPr sz="2250" b="0">
                <a:solidFill>
                  <a:srgbClr val="142B33"/>
                </a:solidFill>
                <a:latin typeface="Arial"/>
                <a:ea typeface="Arial"/>
                <a:cs typeface="Arial"/>
              </a:defRPr>
            </a:lvl1pPr>
            <a:lvl2pPr>
              <a:defRPr sz="2250" b="0">
                <a:solidFill>
                  <a:srgbClr val="142B33"/>
                </a:solidFill>
                <a:latin typeface="Arial"/>
                <a:ea typeface="Arial"/>
                <a:cs typeface="Arial"/>
              </a:defRPr>
            </a:lvl2pPr>
            <a:lvl3pPr>
              <a:defRPr sz="2250" b="0">
                <a:solidFill>
                  <a:srgbClr val="142B33"/>
                </a:solidFill>
                <a:latin typeface="Arial"/>
                <a:ea typeface="Arial"/>
                <a:cs typeface="Arial"/>
              </a:defRPr>
            </a:lvl3pPr>
            <a:lvl4pPr>
              <a:defRPr sz="2250" b="0">
                <a:solidFill>
                  <a:srgbClr val="142B33"/>
                </a:solidFill>
                <a:latin typeface="Arial"/>
                <a:ea typeface="Arial"/>
                <a:cs typeface="Arial"/>
              </a:defRPr>
            </a:lvl4pPr>
            <a:lvl5pPr>
              <a:defRPr sz="2250" b="0">
                <a:solidFill>
                  <a:srgbClr val="142B33"/>
                </a:solidFill>
                <a:latin typeface="Arial"/>
                <a:ea typeface="Arial"/>
                <a:cs typeface="Arial"/>
              </a:defRPr>
            </a:lvl5pPr>
            <a:lvl6pPr>
              <a:defRPr sz="2250" b="0">
                <a:solidFill>
                  <a:srgbClr val="142B33"/>
                </a:solidFill>
                <a:latin typeface="Arial"/>
                <a:ea typeface="Arial"/>
                <a:cs typeface="Arial"/>
              </a:defRPr>
            </a:lvl6pPr>
            <a:lvl7pPr>
              <a:defRPr sz="2250" b="0">
                <a:solidFill>
                  <a:srgbClr val="142B33"/>
                </a:solidFill>
                <a:latin typeface="Arial"/>
                <a:ea typeface="Arial"/>
                <a:cs typeface="Arial"/>
              </a:defRPr>
            </a:lvl7pPr>
            <a:lvl8pPr>
              <a:defRPr sz="2250" b="0">
                <a:solidFill>
                  <a:srgbClr val="142B33"/>
                </a:solidFill>
                <a:latin typeface="Arial"/>
                <a:ea typeface="Arial"/>
                <a:cs typeface="Arial"/>
              </a:defRPr>
            </a:lvl8pPr>
            <a:lvl9pPr>
              <a:defRPr sz="2250" b="0">
                <a:solidFill>
                  <a:srgbClr val="142B33"/>
                </a:solidFill>
                <a:latin typeface="Arial"/>
                <a:ea typeface="Arial"/>
                <a:cs typeface="Arial"/>
              </a:defRPr>
            </a:lvl9pPr>
          </a:lstStyle>
          <a:p xmlns:a="http://schemas.openxmlformats.org/drawingml/2006/main">
            <a:pPr>
              <a:defRPr sz="2250" b="0">
                <a:solidFill>
                  <a:srgbClr val="142B33"/>
                </a:solidFill>
                <a:latin typeface="Arial"/>
                <a:ea typeface="Arial"/>
                <a:cs typeface="Arial"/>
              </a:defRPr>
            </a:pPr>
            <a:r>
              <a:rPr sz="2250" b="0">
                <a:solidFill>
                  <a:srgbClr val="142B33"/>
                </a:solidFill>
                <a:latin typeface="Arial"/>
                <a:ea typeface="Arial"/>
                <a:cs typeface="Arial"/>
              </a:rPr>
              <a:t>618.5 + 878.5 = 1,497.0 metres</a:t>
            </a:r>
          </a:p>
        </p:txBody>
      </p:sp>
    </p:spTree>
    <p:extLst>
      <p:ext uri="{BB962C8B-B14F-4D97-AF65-F5344CB8AC3E}">
        <p14:creationId xmlns:p14="http://schemas.microsoft.com/office/powerpoint/2010/main" val="1051653272"/>
      </p:ext>
    </p:extLst>
  </p:cSld>
</p:sld>
</file>

<file path=ppt/slides/slide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3D90FE-20D5-4560-A538-689D0D2924D7}"/>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Route distance comparisons</a:t>
            </a:r>
          </a:p>
        </p:txBody>
      </p:sp>
      <p:sp>
        <p:nvSpPr>
          <p:cNvPr id="2" name="">
            <a:extLst xmlns:a="http://schemas.openxmlformats.org/drawingml/2006/main">
              <a:ext uri="{FF2B5EF4-FFF2-40B4-BE49-F238E27FC236}">
                <a16:creationId xmlns:a16="http://schemas.microsoft.com/office/drawing/2014/main" id="{B45D256C-F18A-48A9-9DBD-229E61176283}"/>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5</a:t>
            </a:r>
          </a:p>
        </p:txBody>
      </p:sp>
      <p:graphicFrame>
        <p:nvGraphicFramePr>
          <p:cNvPr id="3" name="Chart">
            <a:extLst xmlns:a="http://schemas.openxmlformats.org/drawingml/2006/main">
              <a:ext uri="{FF2B5EF4-FFF2-40B4-BE49-F238E27FC236}">
                <a16:creationId xmlns:a16="http://schemas.microsoft.com/office/drawing/2014/main" id="{7B83A2AB-1044-48B6-9D6F-FCE35656196E}"/>
              </a:ext>
            </a:extLst>
          </p:cNvPr>
          <p:cNvGraphicFramePr/>
          <p:nvPr/>
        </p:nvGraphicFramePr>
        <p:xfrm>
          <a:off xmlns:a="http://schemas.openxmlformats.org/drawingml/2006/main" x="619125" y="1381125"/>
          <a:ext xmlns:a="http://schemas.openxmlformats.org/drawingml/2006/main" cx="10953750" cy="4286250"/>
        </p:xfrm>
        <a:graphic xmlns:a="http://schemas.openxmlformats.org/drawingml/2006/main">
          <a:graphicData uri="http://schemas.openxmlformats.org/drawingml/2006/chart">
            <c:chart xmlns:r="http://schemas.openxmlformats.org/officeDocument/2006/relationships" xmlns:c="http://schemas.openxmlformats.org/drawingml/2006/chart" r:id="Ra4f554fb22a54aac"/>
          </a:graphicData>
        </a:graphic>
      </p:graphicFrame>
      <p:sp>
        <p:nvSpPr>
          <p:cNvPr id="4" name="">
            <a:extLst xmlns:a="http://schemas.openxmlformats.org/drawingml/2006/main">
              <a:ext uri="{FF2B5EF4-FFF2-40B4-BE49-F238E27FC236}">
                <a16:creationId xmlns:a16="http://schemas.microsoft.com/office/drawing/2014/main" id="{06A12A54-16EC-4E9A-AA7C-C528A156C680}"/>
              </a:ext>
            </a:extLst>
          </p:cNvPr>
          <p:cNvSpPr>
            <a:spLocks xmlns:a="http://schemas.openxmlformats.org/drawingml/2006/main" noGrp="1"/>
          </p:cNvSpPr>
          <p:nvPr/>
        </p:nvSpPr>
        <p:spPr>
          <a:xfrm xmlns:a="http://schemas.openxmlformats.org/drawingml/2006/main">
            <a:off x="714375" y="5953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33"/>
                </a:solidFill>
                <a:latin typeface="Arial"/>
                <a:ea typeface="Arial"/>
                <a:cs typeface="Arial"/>
              </a:defRPr>
            </a:defPPr>
            <a:lvl1pPr>
              <a:defRPr sz="1875" b="0">
                <a:solidFill>
                  <a:srgbClr val="142B33"/>
                </a:solidFill>
                <a:latin typeface="Arial"/>
                <a:ea typeface="Arial"/>
                <a:cs typeface="Arial"/>
              </a:defRPr>
            </a:lvl1pPr>
            <a:lvl2pPr>
              <a:defRPr sz="1875" b="0">
                <a:solidFill>
                  <a:srgbClr val="142B33"/>
                </a:solidFill>
                <a:latin typeface="Arial"/>
                <a:ea typeface="Arial"/>
                <a:cs typeface="Arial"/>
              </a:defRPr>
            </a:lvl2pPr>
            <a:lvl3pPr>
              <a:defRPr sz="1875" b="0">
                <a:solidFill>
                  <a:srgbClr val="142B33"/>
                </a:solidFill>
                <a:latin typeface="Arial"/>
                <a:ea typeface="Arial"/>
                <a:cs typeface="Arial"/>
              </a:defRPr>
            </a:lvl3pPr>
            <a:lvl4pPr>
              <a:defRPr sz="1875" b="0">
                <a:solidFill>
                  <a:srgbClr val="142B33"/>
                </a:solidFill>
                <a:latin typeface="Arial"/>
                <a:ea typeface="Arial"/>
                <a:cs typeface="Arial"/>
              </a:defRPr>
            </a:lvl4pPr>
            <a:lvl5pPr>
              <a:defRPr sz="1875" b="0">
                <a:solidFill>
                  <a:srgbClr val="142B33"/>
                </a:solidFill>
                <a:latin typeface="Arial"/>
                <a:ea typeface="Arial"/>
                <a:cs typeface="Arial"/>
              </a:defRPr>
            </a:lvl5pPr>
            <a:lvl6pPr>
              <a:defRPr sz="1875" b="0">
                <a:solidFill>
                  <a:srgbClr val="142B33"/>
                </a:solidFill>
                <a:latin typeface="Arial"/>
                <a:ea typeface="Arial"/>
                <a:cs typeface="Arial"/>
              </a:defRPr>
            </a:lvl6pPr>
            <a:lvl7pPr>
              <a:defRPr sz="1875" b="0">
                <a:solidFill>
                  <a:srgbClr val="142B33"/>
                </a:solidFill>
                <a:latin typeface="Arial"/>
                <a:ea typeface="Arial"/>
                <a:cs typeface="Arial"/>
              </a:defRPr>
            </a:lvl7pPr>
            <a:lvl8pPr>
              <a:defRPr sz="1875" b="0">
                <a:solidFill>
                  <a:srgbClr val="142B33"/>
                </a:solidFill>
                <a:latin typeface="Arial"/>
                <a:ea typeface="Arial"/>
                <a:cs typeface="Arial"/>
              </a:defRPr>
            </a:lvl8pPr>
            <a:lvl9pPr>
              <a:defRPr sz="1875" b="0">
                <a:solidFill>
                  <a:srgbClr val="142B33"/>
                </a:solidFill>
                <a:latin typeface="Arial"/>
                <a:ea typeface="Arial"/>
                <a:cs typeface="Arial"/>
              </a:defRPr>
            </a:lvl9pPr>
          </a:lstStyle>
          <a:p xmlns:a="http://schemas.openxmlformats.org/drawingml/2006/main">
            <a:pPr>
              <a:defRPr sz="1875" b="0">
                <a:solidFill>
                  <a:srgbClr val="142B33"/>
                </a:solidFill>
                <a:latin typeface="Arial"/>
                <a:ea typeface="Arial"/>
                <a:cs typeface="Arial"/>
              </a:defRPr>
            </a:pPr>
            <a:r>
              <a:rPr sz="1875" b="0">
                <a:solidFill>
                  <a:srgbClr val="142B33"/>
                </a:solidFill>
                <a:latin typeface="Arial"/>
                <a:ea typeface="Arial"/>
                <a:cs typeface="Arial"/>
              </a:rPr>
              <a:t>The selected corridor set creates detours, especially for NIMHANS.</a:t>
            </a:r>
          </a:p>
        </p:txBody>
      </p:sp>
    </p:spTree>
    <p:extLst>
      <p:ext uri="{BB962C8B-B14F-4D97-AF65-F5344CB8AC3E}">
        <p14:creationId xmlns:p14="http://schemas.microsoft.com/office/powerpoint/2010/main" val="1023671754"/>
      </p:ext>
    </p:extLst>
  </p:cSld>
</p:sld>
</file>

<file path=ppt/slides/slide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9E8441-EB68-493D-BDA9-365ADBF1AF86}"/>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Shortest and fastest routes can differ</a:t>
            </a:r>
          </a:p>
        </p:txBody>
      </p:sp>
      <p:sp>
        <p:nvSpPr>
          <p:cNvPr id="2" name="">
            <a:extLst xmlns:a="http://schemas.openxmlformats.org/drawingml/2006/main">
              <a:ext uri="{FF2B5EF4-FFF2-40B4-BE49-F238E27FC236}">
                <a16:creationId xmlns:a16="http://schemas.microsoft.com/office/drawing/2014/main" id="{6883F52C-22F3-4E54-9D20-505D52786F1E}"/>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6</a:t>
            </a:r>
          </a:p>
        </p:txBody>
      </p:sp>
      <p:graphicFrame>
        <p:nvGraphicFramePr>
          <p:cNvPr id="3" name="">
            <a:extLst xmlns:a="http://schemas.openxmlformats.org/drawingml/2006/main">
              <a:ext uri="{FF2B5EF4-FFF2-40B4-BE49-F238E27FC236}">
                <a16:creationId xmlns:a16="http://schemas.microsoft.com/office/drawing/2014/main" id="{17EDB35F-BF11-41DF-B058-F988B755255D}"/>
              </a:ext>
            </a:extLst>
          </p:cNvPr>
          <p:cNvGraphicFramePr/>
          <p:nvPr/>
        </p:nvGraphicFramePr>
        <p:xfrm>
          <a:off xmlns:a="http://schemas.openxmlformats.org/drawingml/2006/main" x="619125" y="1952625"/>
          <a:ext xmlns:a="http://schemas.openxmlformats.org/drawingml/2006/main" cx="10953750" cy="2238375"/>
        </p:xfrm>
        <a:graphic xmlns:a="http://schemas.openxmlformats.org/drawingml/2006/main">
          <a:graphicData uri="http://schemas.openxmlformats.org/drawingml/2006/table">
            <a:tbl>
              <a:tblPr/>
              <a:tblGrid>
                <a:gridCol w="2000250"/>
                <a:gridCol w="3619500"/>
                <a:gridCol w="2667000"/>
                <a:gridCol w="2667000"/>
              </a:tblGrid>
              <a:tr h="746125">
                <a:tc>
                  <a:txBody>
                    <a:bodyPr/>
                    <a:lstStyle/>
                    <a:p>
                      <a:r>
                        <a:rPr sz="1725" b="1">
                          <a:solidFill>
                            <a:srgbClr val="142B33"/>
                          </a:solidFill>
                          <a:latin typeface="Arial"/>
                          <a:ea typeface="Arial"/>
                          <a:cs typeface="Arial"/>
                        </a:rPr>
                        <a:t>Objective</a:t>
                      </a:r>
                    </a:p>
                  </a:txBody>
                  <a:tcPr marL="91440" marR="91440" marT="45720" marB="45720">
                    <a:solidFill>
                      <a:srgbClr val="E5EEEA"/>
                    </a:solidFill>
                  </a:tcPr>
                </a:tc>
                <a:tc>
                  <a:txBody>
                    <a:bodyPr/>
                    <a:lstStyle/>
                    <a:p>
                      <a:r>
                        <a:rPr sz="1725" b="1">
                          <a:solidFill>
                            <a:srgbClr val="142B33"/>
                          </a:solidFill>
                          <a:latin typeface="Arial"/>
                          <a:ea typeface="Arial"/>
                          <a:cs typeface="Arial"/>
                        </a:rPr>
                        <a:t>Route</a:t>
                      </a:r>
                    </a:p>
                  </a:txBody>
                  <a:tcPr marL="91440" marR="91440" marT="45720" marB="45720">
                    <a:solidFill>
                      <a:srgbClr val="E5EEEA"/>
                    </a:solidFill>
                  </a:tcPr>
                </a:tc>
                <a:tc>
                  <a:txBody>
                    <a:bodyPr/>
                    <a:lstStyle/>
                    <a:p>
                      <a:r>
                        <a:rPr sz="1725" b="1">
                          <a:solidFill>
                            <a:srgbClr val="142B33"/>
                          </a:solidFill>
                          <a:latin typeface="Arial"/>
                          <a:ea typeface="Arial"/>
                          <a:cs typeface="Arial"/>
                        </a:rPr>
                        <a:t>Distance (m)</a:t>
                      </a:r>
                    </a:p>
                  </a:txBody>
                  <a:tcPr marL="91440" marR="91440" marT="45720" marB="45720">
                    <a:solidFill>
                      <a:srgbClr val="E5EEEA"/>
                    </a:solidFill>
                  </a:tcPr>
                </a:tc>
                <a:tc>
                  <a:txBody>
                    <a:bodyPr/>
                    <a:lstStyle/>
                    <a:p>
                      <a:r>
                        <a:rPr sz="1725" b="1">
                          <a:solidFill>
                            <a:srgbClr val="142B33"/>
                          </a:solidFill>
                          <a:latin typeface="Arial"/>
                          <a:ea typeface="Arial"/>
                          <a:cs typeface="Arial"/>
                        </a:rPr>
                        <a:t>Profile time (s)</a:t>
                      </a:r>
                    </a:p>
                  </a:txBody>
                  <a:tcPr marL="91440" marR="91440" marT="45720" marB="45720">
                    <a:solidFill>
                      <a:srgbClr val="E5EEEA"/>
                    </a:solidFill>
                  </a:tcPr>
                </a:tc>
              </a:tr>
              <a:tr h="746125">
                <a:tc>
                  <a:txBody>
                    <a:bodyPr/>
                    <a:lstStyle/>
                    <a:p>
                      <a:r>
                        <a:rPr sz="1725" b="0">
                          <a:solidFill>
                            <a:srgbClr val="142B33"/>
                          </a:solidFill>
                          <a:latin typeface="Arial"/>
                          <a:ea typeface="Arial"/>
                          <a:cs typeface="Arial"/>
                        </a:rPr>
                        <a:t>Distance</a:t>
                      </a:r>
                    </a:p>
                  </a:txBody>
                  <a:tcPr marL="91440" marR="91440" marT="45720" marB="45720">
                    <a:solidFill>
                      <a:srgbClr val="F8F6F0"/>
                    </a:solidFill>
                  </a:tcPr>
                </a:tc>
                <a:tc>
                  <a:txBody>
                    <a:bodyPr/>
                    <a:lstStyle/>
                    <a:p>
                      <a:r>
                        <a:rPr sz="1725" b="0">
                          <a:solidFill>
                            <a:srgbClr val="142B33"/>
                          </a:solidFill>
                          <a:latin typeface="Arial"/>
                          <a:ea typeface="Arial"/>
                          <a:cs typeface="Arial"/>
                        </a:rPr>
                        <a:t>A-K-J</a:t>
                      </a:r>
                    </a:p>
                  </a:txBody>
                  <a:tcPr marL="91440" marR="91440" marT="45720" marB="45720">
                    <a:solidFill>
                      <a:srgbClr val="F8F6F0"/>
                    </a:solidFill>
                  </a:tcPr>
                </a:tc>
                <a:tc>
                  <a:txBody>
                    <a:bodyPr/>
                    <a:lstStyle/>
                    <a:p>
                      <a:r>
                        <a:rPr sz="1725" b="0">
                          <a:solidFill>
                            <a:srgbClr val="142B33"/>
                          </a:solidFill>
                          <a:latin typeface="Arial"/>
                          <a:ea typeface="Arial"/>
                          <a:cs typeface="Arial"/>
                        </a:rPr>
                        <a:t>1847.3</a:t>
                      </a:r>
                    </a:p>
                  </a:txBody>
                  <a:tcPr marL="91440" marR="91440" marT="45720" marB="45720">
                    <a:solidFill>
                      <a:srgbClr val="F8F6F0"/>
                    </a:solidFill>
                  </a:tcPr>
                </a:tc>
                <a:tc>
                  <a:txBody>
                    <a:bodyPr/>
                    <a:lstStyle/>
                    <a:p>
                      <a:r>
                        <a:rPr sz="1725" b="0">
                          <a:solidFill>
                            <a:srgbClr val="142B33"/>
                          </a:solidFill>
                          <a:latin typeface="Arial"/>
                          <a:ea typeface="Arial"/>
                          <a:cs typeface="Arial"/>
                        </a:rPr>
                        <a:t>191.9</a:t>
                      </a:r>
                    </a:p>
                  </a:txBody>
                  <a:tcPr marL="91440" marR="91440" marT="45720" marB="45720">
                    <a:solidFill>
                      <a:srgbClr val="F8F6F0"/>
                    </a:solidFill>
                  </a:tcPr>
                </a:tc>
              </a:tr>
              <a:tr h="746125">
                <a:tc>
                  <a:txBody>
                    <a:bodyPr/>
                    <a:lstStyle/>
                    <a:p>
                      <a:r>
                        <a:rPr sz="1725" b="0">
                          <a:solidFill>
                            <a:srgbClr val="142B33"/>
                          </a:solidFill>
                          <a:latin typeface="Arial"/>
                          <a:ea typeface="Arial"/>
                          <a:cs typeface="Arial"/>
                        </a:rPr>
                        <a:t>Duration</a:t>
                      </a:r>
                    </a:p>
                  </a:txBody>
                  <a:tcPr marL="91440" marR="91440" marT="45720" marB="45720">
                    <a:solidFill>
                      <a:srgbClr val="F8F6F0"/>
                    </a:solidFill>
                  </a:tcPr>
                </a:tc>
                <a:tc>
                  <a:txBody>
                    <a:bodyPr/>
                    <a:lstStyle/>
                    <a:p>
                      <a:r>
                        <a:rPr sz="1725" b="0">
                          <a:solidFill>
                            <a:srgbClr val="142B33"/>
                          </a:solidFill>
                          <a:latin typeface="Arial"/>
                          <a:ea typeface="Arial"/>
                          <a:cs typeface="Arial"/>
                        </a:rPr>
                        <a:t>A-B-J</a:t>
                      </a:r>
                    </a:p>
                  </a:txBody>
                  <a:tcPr marL="91440" marR="91440" marT="45720" marB="45720">
                    <a:solidFill>
                      <a:srgbClr val="F8F6F0"/>
                    </a:solidFill>
                  </a:tcPr>
                </a:tc>
                <a:tc>
                  <a:txBody>
                    <a:bodyPr/>
                    <a:lstStyle/>
                    <a:p>
                      <a:r>
                        <a:rPr sz="1725" b="0">
                          <a:solidFill>
                            <a:srgbClr val="142B33"/>
                          </a:solidFill>
                          <a:latin typeface="Arial"/>
                          <a:ea typeface="Arial"/>
                          <a:cs typeface="Arial"/>
                        </a:rPr>
                        <a:t>1986.4</a:t>
                      </a:r>
                    </a:p>
                  </a:txBody>
                  <a:tcPr marL="91440" marR="91440" marT="45720" marB="45720">
                    <a:solidFill>
                      <a:srgbClr val="F8F6F0"/>
                    </a:solidFill>
                  </a:tcPr>
                </a:tc>
                <a:tc>
                  <a:txBody>
                    <a:bodyPr/>
                    <a:lstStyle/>
                    <a:p>
                      <a:r>
                        <a:rPr sz="1725" b="0">
                          <a:solidFill>
                            <a:srgbClr val="142B33"/>
                          </a:solidFill>
                          <a:latin typeface="Arial"/>
                          <a:ea typeface="Arial"/>
                          <a:cs typeface="Arial"/>
                        </a:rPr>
                        <a:t>182.4</a:t>
                      </a:r>
                    </a:p>
                  </a:txBody>
                  <a:tcPr marL="91440" marR="91440" marT="45720" marB="45720">
                    <a:solidFill>
                      <a:srgbClr val="F8F6F0"/>
                    </a:solidFill>
                  </a:tcPr>
                </a:tc>
              </a:tr>
            </a:tbl>
          </a:graphicData>
        </a:graphic>
      </p:graphicFrame>
      <p:sp>
        <p:nvSpPr>
          <p:cNvPr id="4" name="">
            <a:extLst xmlns:a="http://schemas.openxmlformats.org/drawingml/2006/main">
              <a:ext uri="{FF2B5EF4-FFF2-40B4-BE49-F238E27FC236}">
                <a16:creationId xmlns:a16="http://schemas.microsoft.com/office/drawing/2014/main" id="{B0DC8BE2-9FB9-4B11-B2FA-55C6A6B0E53D}"/>
              </a:ext>
            </a:extLst>
          </p:cNvPr>
          <p:cNvSpPr>
            <a:spLocks xmlns:a="http://schemas.openxmlformats.org/drawingml/2006/main" noGrp="1"/>
          </p:cNvSpPr>
          <p:nvPr/>
        </p:nvSpPr>
        <p:spPr>
          <a:xfrm xmlns:a="http://schemas.openxmlformats.org/drawingml/2006/main">
            <a:off x="714375" y="47148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685D"/>
                </a:solidFill>
                <a:latin typeface="Arial"/>
                <a:ea typeface="Arial"/>
                <a:cs typeface="Arial"/>
              </a:defRPr>
            </a:defPPr>
            <a:lvl1pPr>
              <a:defRPr sz="2250" b="1">
                <a:solidFill>
                  <a:srgbClr val="00685D"/>
                </a:solidFill>
                <a:latin typeface="Arial"/>
                <a:ea typeface="Arial"/>
                <a:cs typeface="Arial"/>
              </a:defRPr>
            </a:lvl1pPr>
            <a:lvl2pPr>
              <a:defRPr sz="2250" b="1">
                <a:solidFill>
                  <a:srgbClr val="00685D"/>
                </a:solidFill>
                <a:latin typeface="Arial"/>
                <a:ea typeface="Arial"/>
                <a:cs typeface="Arial"/>
              </a:defRPr>
            </a:lvl2pPr>
            <a:lvl3pPr>
              <a:defRPr sz="2250" b="1">
                <a:solidFill>
                  <a:srgbClr val="00685D"/>
                </a:solidFill>
                <a:latin typeface="Arial"/>
                <a:ea typeface="Arial"/>
                <a:cs typeface="Arial"/>
              </a:defRPr>
            </a:lvl3pPr>
            <a:lvl4pPr>
              <a:defRPr sz="2250" b="1">
                <a:solidFill>
                  <a:srgbClr val="00685D"/>
                </a:solidFill>
                <a:latin typeface="Arial"/>
                <a:ea typeface="Arial"/>
                <a:cs typeface="Arial"/>
              </a:defRPr>
            </a:lvl4pPr>
            <a:lvl5pPr>
              <a:defRPr sz="2250" b="1">
                <a:solidFill>
                  <a:srgbClr val="00685D"/>
                </a:solidFill>
                <a:latin typeface="Arial"/>
                <a:ea typeface="Arial"/>
                <a:cs typeface="Arial"/>
              </a:defRPr>
            </a:lvl5pPr>
            <a:lvl6pPr>
              <a:defRPr sz="2250" b="1">
                <a:solidFill>
                  <a:srgbClr val="00685D"/>
                </a:solidFill>
                <a:latin typeface="Arial"/>
                <a:ea typeface="Arial"/>
                <a:cs typeface="Arial"/>
              </a:defRPr>
            </a:lvl6pPr>
            <a:lvl7pPr>
              <a:defRPr sz="2250" b="1">
                <a:solidFill>
                  <a:srgbClr val="00685D"/>
                </a:solidFill>
                <a:latin typeface="Arial"/>
                <a:ea typeface="Arial"/>
                <a:cs typeface="Arial"/>
              </a:defRPr>
            </a:lvl7pPr>
            <a:lvl8pPr>
              <a:defRPr sz="2250" b="1">
                <a:solidFill>
                  <a:srgbClr val="00685D"/>
                </a:solidFill>
                <a:latin typeface="Arial"/>
                <a:ea typeface="Arial"/>
                <a:cs typeface="Arial"/>
              </a:defRPr>
            </a:lvl8pPr>
            <a:lvl9pPr>
              <a:defRPr sz="2250" b="1">
                <a:solidFill>
                  <a:srgbClr val="00685D"/>
                </a:solidFill>
                <a:latin typeface="Arial"/>
                <a:ea typeface="Arial"/>
                <a:cs typeface="Arial"/>
              </a:defRPr>
            </a:lvl9pPr>
          </a:lstStyle>
          <a:p xmlns:a="http://schemas.openxmlformats.org/drawingml/2006/main">
            <a:pPr>
              <a:defRPr sz="2250" b="1">
                <a:solidFill>
                  <a:srgbClr val="00685D"/>
                </a:solidFill>
                <a:latin typeface="Arial"/>
                <a:ea typeface="Arial"/>
                <a:cs typeface="Arial"/>
              </a:defRPr>
            </a:pPr>
            <a:r>
              <a:rPr sz="2250" b="1">
                <a:solidFill>
                  <a:srgbClr val="00685D"/>
                </a:solidFill>
                <a:latin typeface="Arial"/>
                <a:ea typeface="Arial"/>
                <a:cs typeface="Arial"/>
              </a:rPr>
              <a:t>J = Gopalan Innovation Mall</a:t>
            </a:r>
          </a:p>
        </p:txBody>
      </p:sp>
      <p:sp>
        <p:nvSpPr>
          <p:cNvPr id="5" name="">
            <a:extLst xmlns:a="http://schemas.openxmlformats.org/drawingml/2006/main">
              <a:ext uri="{FF2B5EF4-FFF2-40B4-BE49-F238E27FC236}">
                <a16:creationId xmlns:a16="http://schemas.microsoft.com/office/drawing/2014/main" id="{4C5CC092-2751-4728-8B19-BBBD340D1200}"/>
              </a:ext>
            </a:extLst>
          </p:cNvPr>
          <p:cNvSpPr>
            <a:spLocks xmlns:a="http://schemas.openxmlformats.org/drawingml/2006/main" noGrp="1"/>
          </p:cNvSpPr>
          <p:nvPr/>
        </p:nvSpPr>
        <p:spPr>
          <a:xfrm xmlns:a="http://schemas.openxmlformats.org/drawingml/2006/main">
            <a:off x="714375" y="53816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Choose the objective before interpreting a route as optimal.</a:t>
            </a:r>
          </a:p>
        </p:txBody>
      </p:sp>
    </p:spTree>
    <p:extLst>
      <p:ext uri="{BB962C8B-B14F-4D97-AF65-F5344CB8AC3E}">
        <p14:creationId xmlns:p14="http://schemas.microsoft.com/office/powerpoint/2010/main" val="1470882983"/>
      </p:ext>
    </p:extLst>
  </p:cSld>
</p:sld>
</file>

<file path=ppt/slides/slide7.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C29F094-28BD-4374-B416-57535D10D779}"/>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Controlled BC-corridor disruptions</a:t>
            </a:r>
          </a:p>
        </p:txBody>
      </p:sp>
      <p:sp>
        <p:nvSpPr>
          <p:cNvPr id="2" name="">
            <a:extLst xmlns:a="http://schemas.openxmlformats.org/drawingml/2006/main">
              <a:ext uri="{FF2B5EF4-FFF2-40B4-BE49-F238E27FC236}">
                <a16:creationId xmlns:a16="http://schemas.microsoft.com/office/drawing/2014/main" id="{150910CC-FBCC-4331-9C08-2F7A32761508}"/>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7</a:t>
            </a:r>
          </a:p>
        </p:txBody>
      </p:sp>
      <p:graphicFrame>
        <p:nvGraphicFramePr>
          <p:cNvPr id="3" name="">
            <a:extLst xmlns:a="http://schemas.openxmlformats.org/drawingml/2006/main">
              <a:ext uri="{FF2B5EF4-FFF2-40B4-BE49-F238E27FC236}">
                <a16:creationId xmlns:a16="http://schemas.microsoft.com/office/drawing/2014/main" id="{4E5809E3-9FC3-4935-A695-06E0F99E2259}"/>
              </a:ext>
            </a:extLst>
          </p:cNvPr>
          <p:cNvGraphicFramePr/>
          <p:nvPr/>
        </p:nvGraphicFramePr>
        <p:xfrm>
          <a:off xmlns:a="http://schemas.openxmlformats.org/drawingml/2006/main" x="619125" y="1476375"/>
          <a:ext xmlns:a="http://schemas.openxmlformats.org/drawingml/2006/main" cx="10953750" cy="4048125"/>
        </p:xfrm>
        <a:graphic xmlns:a="http://schemas.openxmlformats.org/drawingml/2006/main">
          <a:graphicData uri="http://schemas.openxmlformats.org/drawingml/2006/table">
            <a:tbl>
              <a:tblPr/>
              <a:tblGrid>
                <a:gridCol w="952500"/>
                <a:gridCol w="4095750"/>
                <a:gridCol w="4095750"/>
                <a:gridCol w="1809750"/>
              </a:tblGrid>
              <a:tr h="404813">
                <a:tc>
                  <a:txBody>
                    <a:bodyPr/>
                    <a:lstStyle/>
                    <a:p>
                      <a:r>
                        <a:rPr sz="1725" b="1">
                          <a:solidFill>
                            <a:srgbClr val="142B33"/>
                          </a:solidFill>
                          <a:latin typeface="Arial"/>
                          <a:ea typeface="Arial"/>
                          <a:cs typeface="Arial"/>
                        </a:rPr>
                        <a:t>Target</a:t>
                      </a:r>
                    </a:p>
                  </a:txBody>
                  <a:tcPr marL="91440" marR="91440" marT="45720" marB="45720">
                    <a:solidFill>
                      <a:srgbClr val="E5EEEA"/>
                    </a:solidFill>
                  </a:tcPr>
                </a:tc>
                <a:tc>
                  <a:txBody>
                    <a:bodyPr/>
                    <a:lstStyle/>
                    <a:p>
                      <a:r>
                        <a:rPr sz="1725" b="1">
                          <a:solidFill>
                            <a:srgbClr val="142B33"/>
                          </a:solidFill>
                          <a:latin typeface="Arial"/>
                          <a:ea typeface="Arial"/>
                          <a:cs typeface="Arial"/>
                        </a:rPr>
                        <a:t>Scenario</a:t>
                      </a:r>
                    </a:p>
                  </a:txBody>
                  <a:tcPr marL="91440" marR="91440" marT="45720" marB="45720">
                    <a:solidFill>
                      <a:srgbClr val="E5EEEA"/>
                    </a:solidFill>
                  </a:tcPr>
                </a:tc>
                <a:tc>
                  <a:txBody>
                    <a:bodyPr/>
                    <a:lstStyle/>
                    <a:p>
                      <a:r>
                        <a:rPr sz="1725" b="1">
                          <a:solidFill>
                            <a:srgbClr val="142B33"/>
                          </a:solidFill>
                          <a:latin typeface="Arial"/>
                          <a:ea typeface="Arial"/>
                          <a:cs typeface="Arial"/>
                        </a:rPr>
                        <a:t>Time-optimal route</a:t>
                      </a:r>
                    </a:p>
                  </a:txBody>
                  <a:tcPr marL="91440" marR="91440" marT="45720" marB="45720">
                    <a:solidFill>
                      <a:srgbClr val="E5EEEA"/>
                    </a:solidFill>
                  </a:tcPr>
                </a:tc>
                <a:tc>
                  <a:txBody>
                    <a:bodyPr/>
                    <a:lstStyle/>
                    <a:p>
                      <a:r>
                        <a:rPr sz="1725" b="1">
                          <a:solidFill>
                            <a:srgbClr val="142B33"/>
                          </a:solidFill>
                          <a:latin typeface="Arial"/>
                          <a:ea typeface="Arial"/>
                          <a:cs typeface="Arial"/>
                        </a:rPr>
                        <a:t>Minutes</a:t>
                      </a:r>
                    </a:p>
                  </a:txBody>
                  <a:tcPr marL="91440" marR="91440" marT="45720" marB="45720">
                    <a:solidFill>
                      <a:srgbClr val="E5EEEA"/>
                    </a:solidFill>
                  </a:tcPr>
                </a:tc>
              </a:tr>
              <a:tr h="404813">
                <a:tc>
                  <a:txBody>
                    <a:bodyPr/>
                    <a:lstStyle/>
                    <a:p>
                      <a:r>
                        <a:rPr sz="1725" b="0">
                          <a:solidFill>
                            <a:srgbClr val="142B33"/>
                          </a:solidFill>
                          <a:latin typeface="Arial"/>
                          <a:ea typeface="Arial"/>
                          <a:cs typeface="Arial"/>
                        </a:rPr>
                        <a:t>C</a:t>
                      </a:r>
                    </a:p>
                  </a:txBody>
                  <a:tcPr marL="91440" marR="91440" marT="45720" marB="45720">
                    <a:solidFill>
                      <a:srgbClr val="F8F6F0"/>
                    </a:solidFill>
                  </a:tcPr>
                </a:tc>
                <a:tc>
                  <a:txBody>
                    <a:bodyPr/>
                    <a:lstStyle/>
                    <a:p>
                      <a:r>
                        <a:rPr sz="1725" b="0">
                          <a:solidFill>
                            <a:srgbClr val="142B33"/>
                          </a:solidFill>
                          <a:latin typeface="Arial"/>
                          <a:ea typeface="Arial"/>
                          <a:cs typeface="Arial"/>
                        </a:rPr>
                        <a:t>baseline</a:t>
                      </a:r>
                    </a:p>
                  </a:txBody>
                  <a:tcPr marL="91440" marR="91440" marT="45720" marB="45720">
                    <a:solidFill>
                      <a:srgbClr val="F8F6F0"/>
                    </a:solidFill>
                  </a:tcPr>
                </a:tc>
                <a:tc>
                  <a:txBody>
                    <a:bodyPr/>
                    <a:lstStyle/>
                    <a:p>
                      <a:r>
                        <a:rPr sz="1725" b="0">
                          <a:solidFill>
                            <a:srgbClr val="142B33"/>
                          </a:solidFill>
                          <a:latin typeface="Arial"/>
                          <a:ea typeface="Arial"/>
                          <a:cs typeface="Arial"/>
                        </a:rPr>
                        <a:t>A-B-C</a:t>
                      </a:r>
                    </a:p>
                  </a:txBody>
                  <a:tcPr marL="91440" marR="91440" marT="45720" marB="45720">
                    <a:solidFill>
                      <a:srgbClr val="F8F6F0"/>
                    </a:solidFill>
                  </a:tcPr>
                </a:tc>
                <a:tc>
                  <a:txBody>
                    <a:bodyPr/>
                    <a:lstStyle/>
                    <a:p>
                      <a:r>
                        <a:rPr sz="1725" b="0">
                          <a:solidFill>
                            <a:srgbClr val="142B33"/>
                          </a:solidFill>
                          <a:latin typeface="Arial"/>
                          <a:ea typeface="Arial"/>
                          <a:cs typeface="Arial"/>
                        </a:rPr>
                        <a:t>2.18</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C</a:t>
                      </a:r>
                    </a:p>
                  </a:txBody>
                  <a:tcPr marL="91440" marR="91440" marT="45720" marB="45720">
                    <a:solidFill>
                      <a:srgbClr val="F8F6F0"/>
                    </a:solidFill>
                  </a:tcPr>
                </a:tc>
                <a:tc>
                  <a:txBody>
                    <a:bodyPr/>
                    <a:lstStyle/>
                    <a:p>
                      <a:r>
                        <a:rPr sz="1725" b="0">
                          <a:solidFill>
                            <a:srgbClr val="142B33"/>
                          </a:solidFill>
                          <a:latin typeface="Arial"/>
                          <a:ea typeface="Arial"/>
                          <a:cs typeface="Arial"/>
                        </a:rPr>
                        <a:t>BC corridor unavailable</a:t>
                      </a:r>
                    </a:p>
                  </a:txBody>
                  <a:tcPr marL="91440" marR="91440" marT="45720" marB="45720">
                    <a:solidFill>
                      <a:srgbClr val="F8F6F0"/>
                    </a:solidFill>
                  </a:tcPr>
                </a:tc>
                <a:tc>
                  <a:txBody>
                    <a:bodyPr/>
                    <a:lstStyle/>
                    <a:p>
                      <a:r>
                        <a:rPr sz="1725" b="0">
                          <a:solidFill>
                            <a:srgbClr val="142B33"/>
                          </a:solidFill>
                          <a:latin typeface="Arial"/>
                          <a:ea typeface="Arial"/>
                          <a:cs typeface="Arial"/>
                        </a:rPr>
                        <a:t>A-B-J-C</a:t>
                      </a:r>
                    </a:p>
                  </a:txBody>
                  <a:tcPr marL="91440" marR="91440" marT="45720" marB="45720">
                    <a:solidFill>
                      <a:srgbClr val="F8F6F0"/>
                    </a:solidFill>
                  </a:tcPr>
                </a:tc>
                <a:tc>
                  <a:txBody>
                    <a:bodyPr/>
                    <a:lstStyle/>
                    <a:p>
                      <a:r>
                        <a:rPr sz="1725" b="0">
                          <a:solidFill>
                            <a:srgbClr val="142B33"/>
                          </a:solidFill>
                          <a:latin typeface="Arial"/>
                          <a:ea typeface="Arial"/>
                          <a:cs typeface="Arial"/>
                        </a:rPr>
                        <a:t>4.62</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C</a:t>
                      </a:r>
                    </a:p>
                  </a:txBody>
                  <a:tcPr marL="91440" marR="91440" marT="45720" marB="45720">
                    <a:solidFill>
                      <a:srgbClr val="F8F6F0"/>
                    </a:solidFill>
                  </a:tcPr>
                </a:tc>
                <a:tc>
                  <a:txBody>
                    <a:bodyPr/>
                    <a:lstStyle/>
                    <a:p>
                      <a:r>
                        <a:rPr sz="1725" b="0">
                          <a:solidFill>
                            <a:srgbClr val="142B33"/>
                          </a:solidFill>
                          <a:latin typeface="Arial"/>
                          <a:ea typeface="Arial"/>
                          <a:cs typeface="Arial"/>
                        </a:rPr>
                        <a:t>BC duration tripled</a:t>
                      </a:r>
                    </a:p>
                  </a:txBody>
                  <a:tcPr marL="91440" marR="91440" marT="45720" marB="45720">
                    <a:solidFill>
                      <a:srgbClr val="F8F6F0"/>
                    </a:solidFill>
                  </a:tcPr>
                </a:tc>
                <a:tc>
                  <a:txBody>
                    <a:bodyPr/>
                    <a:lstStyle/>
                    <a:p>
                      <a:r>
                        <a:rPr sz="1725" b="0">
                          <a:solidFill>
                            <a:srgbClr val="142B33"/>
                          </a:solidFill>
                          <a:latin typeface="Arial"/>
                          <a:ea typeface="Arial"/>
                          <a:cs typeface="Arial"/>
                        </a:rPr>
                        <a:t>A-B-C</a:t>
                      </a:r>
                    </a:p>
                  </a:txBody>
                  <a:tcPr marL="91440" marR="91440" marT="45720" marB="45720">
                    <a:solidFill>
                      <a:srgbClr val="F8F6F0"/>
                    </a:solidFill>
                  </a:tcPr>
                </a:tc>
                <a:tc>
                  <a:txBody>
                    <a:bodyPr/>
                    <a:lstStyle/>
                    <a:p>
                      <a:r>
                        <a:rPr sz="1725" b="0">
                          <a:solidFill>
                            <a:srgbClr val="142B33"/>
                          </a:solidFill>
                          <a:latin typeface="Arial"/>
                          <a:ea typeface="Arial"/>
                          <a:cs typeface="Arial"/>
                        </a:rPr>
                        <a:t>4.59</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D</a:t>
                      </a:r>
                    </a:p>
                  </a:txBody>
                  <a:tcPr marL="91440" marR="91440" marT="45720" marB="45720">
                    <a:solidFill>
                      <a:srgbClr val="F8F6F0"/>
                    </a:solidFill>
                  </a:tcPr>
                </a:tc>
                <a:tc>
                  <a:txBody>
                    <a:bodyPr/>
                    <a:lstStyle/>
                    <a:p>
                      <a:r>
                        <a:rPr sz="1725" b="0">
                          <a:solidFill>
                            <a:srgbClr val="142B33"/>
                          </a:solidFill>
                          <a:latin typeface="Arial"/>
                          <a:ea typeface="Arial"/>
                          <a:cs typeface="Arial"/>
                        </a:rPr>
                        <a:t>baseline</a:t>
                      </a:r>
                    </a:p>
                  </a:txBody>
                  <a:tcPr marL="91440" marR="91440" marT="45720" marB="45720">
                    <a:solidFill>
                      <a:srgbClr val="F8F6F0"/>
                    </a:solidFill>
                  </a:tcPr>
                </a:tc>
                <a:tc>
                  <a:txBody>
                    <a:bodyPr/>
                    <a:lstStyle/>
                    <a:p>
                      <a:r>
                        <a:rPr sz="1725" b="0">
                          <a:solidFill>
                            <a:srgbClr val="142B33"/>
                          </a:solidFill>
                          <a:latin typeface="Arial"/>
                          <a:ea typeface="Arial"/>
                          <a:cs typeface="Arial"/>
                        </a:rPr>
                        <a:t>A-B-C-D</a:t>
                      </a:r>
                    </a:p>
                  </a:txBody>
                  <a:tcPr marL="91440" marR="91440" marT="45720" marB="45720">
                    <a:solidFill>
                      <a:srgbClr val="F8F6F0"/>
                    </a:solidFill>
                  </a:tcPr>
                </a:tc>
                <a:tc>
                  <a:txBody>
                    <a:bodyPr/>
                    <a:lstStyle/>
                    <a:p>
                      <a:r>
                        <a:rPr sz="1725" b="0">
                          <a:solidFill>
                            <a:srgbClr val="142B33"/>
                          </a:solidFill>
                          <a:latin typeface="Arial"/>
                          <a:ea typeface="Arial"/>
                          <a:cs typeface="Arial"/>
                        </a:rPr>
                        <a:t>3.61</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D</a:t>
                      </a:r>
                    </a:p>
                  </a:txBody>
                  <a:tcPr marL="91440" marR="91440" marT="45720" marB="45720">
                    <a:solidFill>
                      <a:srgbClr val="F8F6F0"/>
                    </a:solidFill>
                  </a:tcPr>
                </a:tc>
                <a:tc>
                  <a:txBody>
                    <a:bodyPr/>
                    <a:lstStyle/>
                    <a:p>
                      <a:r>
                        <a:rPr sz="1725" b="0">
                          <a:solidFill>
                            <a:srgbClr val="142B33"/>
                          </a:solidFill>
                          <a:latin typeface="Arial"/>
                          <a:ea typeface="Arial"/>
                          <a:cs typeface="Arial"/>
                        </a:rPr>
                        <a:t>BC corridor unavailable</a:t>
                      </a:r>
                    </a:p>
                  </a:txBody>
                  <a:tcPr marL="91440" marR="91440" marT="45720" marB="45720">
                    <a:solidFill>
                      <a:srgbClr val="F8F6F0"/>
                    </a:solidFill>
                  </a:tcPr>
                </a:tc>
                <a:tc>
                  <a:txBody>
                    <a:bodyPr/>
                    <a:lstStyle/>
                    <a:p>
                      <a:r>
                        <a:rPr sz="1725" b="0">
                          <a:solidFill>
                            <a:srgbClr val="142B33"/>
                          </a:solidFill>
                          <a:latin typeface="Arial"/>
                          <a:ea typeface="Arial"/>
                          <a:cs typeface="Arial"/>
                        </a:rPr>
                        <a:t>A-B-J-C-D</a:t>
                      </a:r>
                    </a:p>
                  </a:txBody>
                  <a:tcPr marL="91440" marR="91440" marT="45720" marB="45720">
                    <a:solidFill>
                      <a:srgbClr val="F8F6F0"/>
                    </a:solidFill>
                  </a:tcPr>
                </a:tc>
                <a:tc>
                  <a:txBody>
                    <a:bodyPr/>
                    <a:lstStyle/>
                    <a:p>
                      <a:r>
                        <a:rPr sz="1725" b="0">
                          <a:solidFill>
                            <a:srgbClr val="142B33"/>
                          </a:solidFill>
                          <a:latin typeface="Arial"/>
                          <a:ea typeface="Arial"/>
                          <a:cs typeface="Arial"/>
                        </a:rPr>
                        <a:t>6.05</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D</a:t>
                      </a:r>
                    </a:p>
                  </a:txBody>
                  <a:tcPr marL="91440" marR="91440" marT="45720" marB="45720">
                    <a:solidFill>
                      <a:srgbClr val="F8F6F0"/>
                    </a:solidFill>
                  </a:tcPr>
                </a:tc>
                <a:tc>
                  <a:txBody>
                    <a:bodyPr/>
                    <a:lstStyle/>
                    <a:p>
                      <a:r>
                        <a:rPr sz="1725" b="0">
                          <a:solidFill>
                            <a:srgbClr val="142B33"/>
                          </a:solidFill>
                          <a:latin typeface="Arial"/>
                          <a:ea typeface="Arial"/>
                          <a:cs typeface="Arial"/>
                        </a:rPr>
                        <a:t>BC duration tripled</a:t>
                      </a:r>
                    </a:p>
                  </a:txBody>
                  <a:tcPr marL="91440" marR="91440" marT="45720" marB="45720">
                    <a:solidFill>
                      <a:srgbClr val="F8F6F0"/>
                    </a:solidFill>
                  </a:tcPr>
                </a:tc>
                <a:tc>
                  <a:txBody>
                    <a:bodyPr/>
                    <a:lstStyle/>
                    <a:p>
                      <a:r>
                        <a:rPr sz="1725" b="0">
                          <a:solidFill>
                            <a:srgbClr val="142B33"/>
                          </a:solidFill>
                          <a:latin typeface="Arial"/>
                          <a:ea typeface="Arial"/>
                          <a:cs typeface="Arial"/>
                        </a:rPr>
                        <a:t>A-B-C-D</a:t>
                      </a:r>
                    </a:p>
                  </a:txBody>
                  <a:tcPr marL="91440" marR="91440" marT="45720" marB="45720">
                    <a:solidFill>
                      <a:srgbClr val="F8F6F0"/>
                    </a:solidFill>
                  </a:tcPr>
                </a:tc>
                <a:tc>
                  <a:txBody>
                    <a:bodyPr/>
                    <a:lstStyle/>
                    <a:p>
                      <a:r>
                        <a:rPr sz="1725" b="0">
                          <a:solidFill>
                            <a:srgbClr val="142B33"/>
                          </a:solidFill>
                          <a:latin typeface="Arial"/>
                          <a:ea typeface="Arial"/>
                          <a:cs typeface="Arial"/>
                        </a:rPr>
                        <a:t>6.02</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L</a:t>
                      </a:r>
                    </a:p>
                  </a:txBody>
                  <a:tcPr marL="91440" marR="91440" marT="45720" marB="45720">
                    <a:solidFill>
                      <a:srgbClr val="F8F6F0"/>
                    </a:solidFill>
                  </a:tcPr>
                </a:tc>
                <a:tc>
                  <a:txBody>
                    <a:bodyPr/>
                    <a:lstStyle/>
                    <a:p>
                      <a:r>
                        <a:rPr sz="1725" b="0">
                          <a:solidFill>
                            <a:srgbClr val="142B33"/>
                          </a:solidFill>
                          <a:latin typeface="Arial"/>
                          <a:ea typeface="Arial"/>
                          <a:cs typeface="Arial"/>
                        </a:rPr>
                        <a:t>baseline</a:t>
                      </a:r>
                    </a:p>
                  </a:txBody>
                  <a:tcPr marL="91440" marR="91440" marT="45720" marB="45720">
                    <a:solidFill>
                      <a:srgbClr val="F8F6F0"/>
                    </a:solidFill>
                  </a:tcPr>
                </a:tc>
                <a:tc>
                  <a:txBody>
                    <a:bodyPr/>
                    <a:lstStyle/>
                    <a:p>
                      <a:r>
                        <a:rPr sz="1725" b="0">
                          <a:solidFill>
                            <a:srgbClr val="142B33"/>
                          </a:solidFill>
                          <a:latin typeface="Arial"/>
                          <a:ea typeface="Arial"/>
                          <a:cs typeface="Arial"/>
                        </a:rPr>
                        <a:t>A-B-C-L</a:t>
                      </a:r>
                    </a:p>
                  </a:txBody>
                  <a:tcPr marL="91440" marR="91440" marT="45720" marB="45720">
                    <a:solidFill>
                      <a:srgbClr val="F8F6F0"/>
                    </a:solidFill>
                  </a:tcPr>
                </a:tc>
                <a:tc>
                  <a:txBody>
                    <a:bodyPr/>
                    <a:lstStyle/>
                    <a:p>
                      <a:r>
                        <a:rPr sz="1725" b="0">
                          <a:solidFill>
                            <a:srgbClr val="142B33"/>
                          </a:solidFill>
                          <a:latin typeface="Arial"/>
                          <a:ea typeface="Arial"/>
                          <a:cs typeface="Arial"/>
                        </a:rPr>
                        <a:t>6.14</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L</a:t>
                      </a:r>
                    </a:p>
                  </a:txBody>
                  <a:tcPr marL="91440" marR="91440" marT="45720" marB="45720">
                    <a:solidFill>
                      <a:srgbClr val="F8F6F0"/>
                    </a:solidFill>
                  </a:tcPr>
                </a:tc>
                <a:tc>
                  <a:txBody>
                    <a:bodyPr/>
                    <a:lstStyle/>
                    <a:p>
                      <a:r>
                        <a:rPr sz="1725" b="0">
                          <a:solidFill>
                            <a:srgbClr val="142B33"/>
                          </a:solidFill>
                          <a:latin typeface="Arial"/>
                          <a:ea typeface="Arial"/>
                          <a:cs typeface="Arial"/>
                        </a:rPr>
                        <a:t>BC corridor unavailable</a:t>
                      </a:r>
                    </a:p>
                  </a:txBody>
                  <a:tcPr marL="91440" marR="91440" marT="45720" marB="45720">
                    <a:solidFill>
                      <a:srgbClr val="F8F6F0"/>
                    </a:solidFill>
                  </a:tcPr>
                </a:tc>
                <a:tc>
                  <a:txBody>
                    <a:bodyPr/>
                    <a:lstStyle/>
                    <a:p>
                      <a:r>
                        <a:rPr sz="1725" b="0">
                          <a:solidFill>
                            <a:srgbClr val="142B33"/>
                          </a:solidFill>
                          <a:latin typeface="Arial"/>
                          <a:ea typeface="Arial"/>
                          <a:cs typeface="Arial"/>
                        </a:rPr>
                        <a:t>A-G-E-L</a:t>
                      </a:r>
                    </a:p>
                  </a:txBody>
                  <a:tcPr marL="91440" marR="91440" marT="45720" marB="45720">
                    <a:solidFill>
                      <a:srgbClr val="F8F6F0"/>
                    </a:solidFill>
                  </a:tcPr>
                </a:tc>
                <a:tc>
                  <a:txBody>
                    <a:bodyPr/>
                    <a:lstStyle/>
                    <a:p>
                      <a:r>
                        <a:rPr sz="1725" b="0">
                          <a:solidFill>
                            <a:srgbClr val="142B33"/>
                          </a:solidFill>
                          <a:latin typeface="Arial"/>
                          <a:ea typeface="Arial"/>
                          <a:cs typeface="Arial"/>
                        </a:rPr>
                        <a:t>8.51</a:t>
                      </a:r>
                    </a:p>
                  </a:txBody>
                  <a:tcPr marL="91440" marR="91440" marT="45720" marB="45720">
                    <a:solidFill>
                      <a:srgbClr val="F8F6F0"/>
                    </a:solidFill>
                  </a:tcPr>
                </a:tc>
              </a:tr>
              <a:tr h="404813">
                <a:tc>
                  <a:txBody>
                    <a:bodyPr/>
                    <a:lstStyle/>
                    <a:p>
                      <a:r>
                        <a:rPr sz="1725" b="0">
                          <a:solidFill>
                            <a:srgbClr val="142B33"/>
                          </a:solidFill>
                          <a:latin typeface="Arial"/>
                          <a:ea typeface="Arial"/>
                          <a:cs typeface="Arial"/>
                        </a:rPr>
                        <a:t>L</a:t>
                      </a:r>
                    </a:p>
                  </a:txBody>
                  <a:tcPr marL="91440" marR="91440" marT="45720" marB="45720">
                    <a:solidFill>
                      <a:srgbClr val="F8F6F0"/>
                    </a:solidFill>
                  </a:tcPr>
                </a:tc>
                <a:tc>
                  <a:txBody>
                    <a:bodyPr/>
                    <a:lstStyle/>
                    <a:p>
                      <a:r>
                        <a:rPr sz="1725" b="0">
                          <a:solidFill>
                            <a:srgbClr val="142B33"/>
                          </a:solidFill>
                          <a:latin typeface="Arial"/>
                          <a:ea typeface="Arial"/>
                          <a:cs typeface="Arial"/>
                        </a:rPr>
                        <a:t>BC duration tripled</a:t>
                      </a:r>
                    </a:p>
                  </a:txBody>
                  <a:tcPr marL="91440" marR="91440" marT="45720" marB="45720">
                    <a:solidFill>
                      <a:srgbClr val="F8F6F0"/>
                    </a:solidFill>
                  </a:tcPr>
                </a:tc>
                <a:tc>
                  <a:txBody>
                    <a:bodyPr/>
                    <a:lstStyle/>
                    <a:p>
                      <a:r>
                        <a:rPr sz="1725" b="0">
                          <a:solidFill>
                            <a:srgbClr val="142B33"/>
                          </a:solidFill>
                          <a:latin typeface="Arial"/>
                          <a:ea typeface="Arial"/>
                          <a:cs typeface="Arial"/>
                        </a:rPr>
                        <a:t>A-G-E-L</a:t>
                      </a:r>
                    </a:p>
                  </a:txBody>
                  <a:tcPr marL="91440" marR="91440" marT="45720" marB="45720">
                    <a:solidFill>
                      <a:srgbClr val="F8F6F0"/>
                    </a:solidFill>
                  </a:tcPr>
                </a:tc>
                <a:tc>
                  <a:txBody>
                    <a:bodyPr/>
                    <a:lstStyle/>
                    <a:p>
                      <a:r>
                        <a:rPr sz="1725" b="0">
                          <a:solidFill>
                            <a:srgbClr val="142B33"/>
                          </a:solidFill>
                          <a:latin typeface="Arial"/>
                          <a:ea typeface="Arial"/>
                          <a:cs typeface="Arial"/>
                        </a:rPr>
                        <a:t>8.51</a:t>
                      </a:r>
                    </a:p>
                  </a:txBody>
                  <a:tcPr marL="91440" marR="91440" marT="45720" marB="45720">
                    <a:solidFill>
                      <a:srgbClr val="F8F6F0"/>
                    </a:solidFill>
                  </a:tcPr>
                </a:tc>
              </a:tr>
            </a:tbl>
          </a:graphicData>
        </a:graphic>
      </p:graphicFrame>
      <p:sp>
        <p:nvSpPr>
          <p:cNvPr id="4" name="">
            <a:extLst xmlns:a="http://schemas.openxmlformats.org/drawingml/2006/main">
              <a:ext uri="{FF2B5EF4-FFF2-40B4-BE49-F238E27FC236}">
                <a16:creationId xmlns:a16="http://schemas.microsoft.com/office/drawing/2014/main" id="{DF9A5B04-9643-4457-837C-81475A72E7EB}"/>
              </a:ext>
            </a:extLst>
          </p:cNvPr>
          <p:cNvSpPr>
            <a:spLocks xmlns:a="http://schemas.openxmlformats.org/drawingml/2006/main" noGrp="1"/>
          </p:cNvSpPr>
          <p:nvPr/>
        </p:nvSpPr>
        <p:spPr>
          <a:xfrm xmlns:a="http://schemas.openxmlformats.org/drawingml/2006/main">
            <a:off x="666750" y="5810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36A"/>
                </a:solidFill>
                <a:latin typeface="Arial"/>
                <a:ea typeface="Arial"/>
                <a:cs typeface="Arial"/>
              </a:defRPr>
            </a:defPPr>
            <a:lvl1pPr>
              <a:defRPr sz="1725" b="0">
                <a:solidFill>
                  <a:srgbClr val="53636A"/>
                </a:solidFill>
                <a:latin typeface="Arial"/>
                <a:ea typeface="Arial"/>
                <a:cs typeface="Arial"/>
              </a:defRPr>
            </a:lvl1pPr>
            <a:lvl2pPr>
              <a:defRPr sz="1725" b="0">
                <a:solidFill>
                  <a:srgbClr val="53636A"/>
                </a:solidFill>
                <a:latin typeface="Arial"/>
                <a:ea typeface="Arial"/>
                <a:cs typeface="Arial"/>
              </a:defRPr>
            </a:lvl2pPr>
            <a:lvl3pPr>
              <a:defRPr sz="1725" b="0">
                <a:solidFill>
                  <a:srgbClr val="53636A"/>
                </a:solidFill>
                <a:latin typeface="Arial"/>
                <a:ea typeface="Arial"/>
                <a:cs typeface="Arial"/>
              </a:defRPr>
            </a:lvl3pPr>
            <a:lvl4pPr>
              <a:defRPr sz="1725" b="0">
                <a:solidFill>
                  <a:srgbClr val="53636A"/>
                </a:solidFill>
                <a:latin typeface="Arial"/>
                <a:ea typeface="Arial"/>
                <a:cs typeface="Arial"/>
              </a:defRPr>
            </a:lvl4pPr>
            <a:lvl5pPr>
              <a:defRPr sz="1725" b="0">
                <a:solidFill>
                  <a:srgbClr val="53636A"/>
                </a:solidFill>
                <a:latin typeface="Arial"/>
                <a:ea typeface="Arial"/>
                <a:cs typeface="Arial"/>
              </a:defRPr>
            </a:lvl5pPr>
            <a:lvl6pPr>
              <a:defRPr sz="1725" b="0">
                <a:solidFill>
                  <a:srgbClr val="53636A"/>
                </a:solidFill>
                <a:latin typeface="Arial"/>
                <a:ea typeface="Arial"/>
                <a:cs typeface="Arial"/>
              </a:defRPr>
            </a:lvl6pPr>
            <a:lvl7pPr>
              <a:defRPr sz="1725" b="0">
                <a:solidFill>
                  <a:srgbClr val="53636A"/>
                </a:solidFill>
                <a:latin typeface="Arial"/>
                <a:ea typeface="Arial"/>
                <a:cs typeface="Arial"/>
              </a:defRPr>
            </a:lvl7pPr>
            <a:lvl8pPr>
              <a:defRPr sz="1725" b="0">
                <a:solidFill>
                  <a:srgbClr val="53636A"/>
                </a:solidFill>
                <a:latin typeface="Arial"/>
                <a:ea typeface="Arial"/>
                <a:cs typeface="Arial"/>
              </a:defRPr>
            </a:lvl8pPr>
            <a:lvl9pPr>
              <a:defRPr sz="1725" b="0">
                <a:solidFill>
                  <a:srgbClr val="53636A"/>
                </a:solidFill>
                <a:latin typeface="Arial"/>
                <a:ea typeface="Arial"/>
                <a:cs typeface="Arial"/>
              </a:defRPr>
            </a:lvl9pPr>
          </a:lstStyle>
          <a:p xmlns:a="http://schemas.openxmlformats.org/drawingml/2006/main">
            <a:pPr>
              <a:defRPr sz="1725" b="0">
                <a:solidFill>
                  <a:srgbClr val="53636A"/>
                </a:solidFill>
                <a:latin typeface="Arial"/>
                <a:ea typeface="Arial"/>
                <a:cs typeface="Arial"/>
              </a:defRPr>
            </a:pPr>
            <a:r>
              <a:rPr sz="1725" b="0">
                <a:solidFill>
                  <a:srgbClr val="53636A"/>
                </a:solidFill>
                <a:latin typeface="Arial"/>
                <a:ea typeface="Arial"/>
                <a:cs typeface="Arial"/>
              </a:rPr>
              <a:t>Unavailable means the teaching connection is disabled; this is not a street-level closure simulation.</a:t>
            </a:r>
          </a:p>
        </p:txBody>
      </p:sp>
    </p:spTree>
    <p:extLst>
      <p:ext uri="{BB962C8B-B14F-4D97-AF65-F5344CB8AC3E}">
        <p14:creationId xmlns:p14="http://schemas.microsoft.com/office/powerpoint/2010/main" val="199006914"/>
      </p:ext>
    </p:extLst>
  </p:cSld>
</p:sld>
</file>

<file path=ppt/slides/slide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2B563B-8ACC-4310-B806-1A85E660374F}"/>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Google Maps and endpoint interpretation</a:t>
            </a:r>
          </a:p>
        </p:txBody>
      </p:sp>
      <p:sp>
        <p:nvSpPr>
          <p:cNvPr id="2" name="">
            <a:extLst xmlns:a="http://schemas.openxmlformats.org/drawingml/2006/main">
              <a:ext uri="{FF2B5EF4-FFF2-40B4-BE49-F238E27FC236}">
                <a16:creationId xmlns:a16="http://schemas.microsoft.com/office/drawing/2014/main" id="{5A1CB367-4F7A-47F6-8197-C93150811E39}"/>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A126B3E3-F0D1-462A-8683-F5911C3D891E}"/>
              </a:ext>
            </a:extLst>
          </p:cNvPr>
          <p:cNvSpPr>
            <a:spLocks xmlns:a="http://schemas.openxmlformats.org/drawingml/2006/main" noGrp="1"/>
          </p:cNvSpPr>
          <p:nvPr/>
        </p:nvSpPr>
        <p:spPr>
          <a:xfrm xmlns:a="http://schemas.openxmlformats.org/drawingml/2006/main">
            <a:off x="666750" y="16668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Jayadeva: Google displayed 1.1 km / 5 min; the OSRM direct reference was 1.084 km / 1.61 profile min.</a:t>
            </a:r>
          </a:p>
        </p:txBody>
      </p:sp>
      <p:sp>
        <p:nvSpPr>
          <p:cNvPr id="4" name="">
            <a:extLst xmlns:a="http://schemas.openxmlformats.org/drawingml/2006/main">
              <a:ext uri="{FF2B5EF4-FFF2-40B4-BE49-F238E27FC236}">
                <a16:creationId xmlns:a16="http://schemas.microsoft.com/office/drawing/2014/main" id="{A49CFBDF-E66C-4498-82CA-94C0890872DB}"/>
              </a:ext>
            </a:extLst>
          </p:cNvPr>
          <p:cNvSpPr>
            <a:spLocks xmlns:a="http://schemas.openxmlformats.org/drawingml/2006/main" noGrp="1"/>
          </p:cNvSpPr>
          <p:nvPr/>
        </p:nvSpPr>
        <p:spPr>
          <a:xfrm xmlns:a="http://schemas.openxmlformats.org/drawingml/2006/main">
            <a:off x="666750" y="29527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At B, Google selected the elevated flyover and displayed 11.3 km / 22 min. That observation is flagged and excluded.</a:t>
            </a:r>
          </a:p>
        </p:txBody>
      </p:sp>
      <p:sp>
        <p:nvSpPr>
          <p:cNvPr id="5" name="">
            <a:extLst xmlns:a="http://schemas.openxmlformats.org/drawingml/2006/main">
              <a:ext uri="{FF2B5EF4-FFF2-40B4-BE49-F238E27FC236}">
                <a16:creationId xmlns:a16="http://schemas.microsoft.com/office/drawing/2014/main" id="{AC10FDBC-F254-4ABA-8A23-AD1B7A27169D}"/>
              </a:ext>
            </a:extLst>
          </p:cNvPr>
          <p:cNvSpPr>
            <a:spLocks xmlns:a="http://schemas.openxmlformats.org/drawingml/2006/main" noGrp="1"/>
          </p:cNvSpPr>
          <p:nvPr/>
        </p:nvSpPr>
        <p:spPr>
          <a:xfrm xmlns:a="http://schemas.openxmlformats.org/drawingml/2006/main">
            <a:off x="666750" y="42386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Match endpoints, road level, mode, objective and observation time before interpreting a service difference.</a:t>
            </a:r>
          </a:p>
        </p:txBody>
      </p:sp>
    </p:spTree>
    <p:extLst>
      <p:ext uri="{BB962C8B-B14F-4D97-AF65-F5344CB8AC3E}">
        <p14:creationId xmlns:p14="http://schemas.microsoft.com/office/powerpoint/2010/main" val="1328925989"/>
      </p:ext>
    </p:extLst>
  </p:cSld>
</p:sld>
</file>

<file path=ppt/slides/slide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A2C1D5-1356-475D-833F-01FDA9E1BBCF}"/>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Emergency-service context</a:t>
            </a:r>
          </a:p>
        </p:txBody>
      </p:sp>
      <p:sp>
        <p:nvSpPr>
          <p:cNvPr id="2" name="">
            <a:extLst xmlns:a="http://schemas.openxmlformats.org/drawingml/2006/main">
              <a:ext uri="{FF2B5EF4-FFF2-40B4-BE49-F238E27FC236}">
                <a16:creationId xmlns:a16="http://schemas.microsoft.com/office/drawing/2014/main" id="{184D4138-A734-4616-8E54-8C40DAC3F4DC}"/>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27E8022A-0BF4-4000-BEF8-7EF2EA61C629}"/>
              </a:ext>
            </a:extLst>
          </p:cNvPr>
          <p:cNvSpPr>
            <a:spLocks xmlns:a="http://schemas.openxmlformats.org/drawingml/2006/main" noGrp="1"/>
          </p:cNvSpPr>
          <p:nvPr/>
        </p:nvSpPr>
        <p:spPr>
          <a:xfrm xmlns:a="http://schemas.openxmlformats.org/drawingml/2006/main">
            <a:off x="714375" y="1714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00685D"/>
                </a:solidFill>
                <a:latin typeface="Arial"/>
                <a:ea typeface="Arial"/>
                <a:cs typeface="Arial"/>
              </a:defRPr>
            </a:defPPr>
            <a:lvl1pPr>
              <a:defRPr sz="3450" b="1">
                <a:solidFill>
                  <a:srgbClr val="00685D"/>
                </a:solidFill>
                <a:latin typeface="Arial"/>
                <a:ea typeface="Arial"/>
                <a:cs typeface="Arial"/>
              </a:defRPr>
            </a:lvl1pPr>
            <a:lvl2pPr>
              <a:defRPr sz="3450" b="1">
                <a:solidFill>
                  <a:srgbClr val="00685D"/>
                </a:solidFill>
                <a:latin typeface="Arial"/>
                <a:ea typeface="Arial"/>
                <a:cs typeface="Arial"/>
              </a:defRPr>
            </a:lvl2pPr>
            <a:lvl3pPr>
              <a:defRPr sz="3450" b="1">
                <a:solidFill>
                  <a:srgbClr val="00685D"/>
                </a:solidFill>
                <a:latin typeface="Arial"/>
                <a:ea typeface="Arial"/>
                <a:cs typeface="Arial"/>
              </a:defRPr>
            </a:lvl3pPr>
            <a:lvl4pPr>
              <a:defRPr sz="3450" b="1">
                <a:solidFill>
                  <a:srgbClr val="00685D"/>
                </a:solidFill>
                <a:latin typeface="Arial"/>
                <a:ea typeface="Arial"/>
                <a:cs typeface="Arial"/>
              </a:defRPr>
            </a:lvl4pPr>
            <a:lvl5pPr>
              <a:defRPr sz="3450" b="1">
                <a:solidFill>
                  <a:srgbClr val="00685D"/>
                </a:solidFill>
                <a:latin typeface="Arial"/>
                <a:ea typeface="Arial"/>
                <a:cs typeface="Arial"/>
              </a:defRPr>
            </a:lvl5pPr>
            <a:lvl6pPr>
              <a:defRPr sz="3450" b="1">
                <a:solidFill>
                  <a:srgbClr val="00685D"/>
                </a:solidFill>
                <a:latin typeface="Arial"/>
                <a:ea typeface="Arial"/>
                <a:cs typeface="Arial"/>
              </a:defRPr>
            </a:lvl6pPr>
            <a:lvl7pPr>
              <a:defRPr sz="3450" b="1">
                <a:solidFill>
                  <a:srgbClr val="00685D"/>
                </a:solidFill>
                <a:latin typeface="Arial"/>
                <a:ea typeface="Arial"/>
                <a:cs typeface="Arial"/>
              </a:defRPr>
            </a:lvl7pPr>
            <a:lvl8pPr>
              <a:defRPr sz="3450" b="1">
                <a:solidFill>
                  <a:srgbClr val="00685D"/>
                </a:solidFill>
                <a:latin typeface="Arial"/>
                <a:ea typeface="Arial"/>
                <a:cs typeface="Arial"/>
              </a:defRPr>
            </a:lvl8pPr>
            <a:lvl9pPr>
              <a:defRPr sz="3450" b="1">
                <a:solidFill>
                  <a:srgbClr val="00685D"/>
                </a:solidFill>
                <a:latin typeface="Arial"/>
                <a:ea typeface="Arial"/>
                <a:cs typeface="Arial"/>
              </a:defRPr>
            </a:lvl9pPr>
          </a:lstStyle>
          <a:p xmlns:a="http://schemas.openxmlformats.org/drawingml/2006/main">
            <a:pPr>
              <a:defRPr sz="3450" b="1">
                <a:solidFill>
                  <a:srgbClr val="00685D"/>
                </a:solidFill>
                <a:latin typeface="Arial"/>
                <a:ea typeface="Arial"/>
                <a:cs typeface="Arial"/>
              </a:defRPr>
            </a:pPr>
            <a:r>
              <a:rPr sz="3450" b="1">
                <a:solidFill>
                  <a:srgbClr val="00685D"/>
                </a:solidFill>
                <a:latin typeface="Arial"/>
                <a:ea typeface="Arial"/>
                <a:cs typeface="Arial"/>
              </a:rPr>
              <a:t>20 min urban / 30 min rural</a:t>
            </a:r>
          </a:p>
        </p:txBody>
      </p:sp>
      <p:sp>
        <p:nvSpPr>
          <p:cNvPr id="4" name="">
            <a:extLst xmlns:a="http://schemas.openxmlformats.org/drawingml/2006/main">
              <a:ext uri="{FF2B5EF4-FFF2-40B4-BE49-F238E27FC236}">
                <a16:creationId xmlns:a16="http://schemas.microsoft.com/office/drawing/2014/main" id="{BD1C7AA3-9DE2-458E-A504-9953C58044E1}"/>
              </a:ext>
            </a:extLst>
          </p:cNvPr>
          <p:cNvSpPr>
            <a:spLocks xmlns:a="http://schemas.openxmlformats.org/drawingml/2006/main" noGrp="1"/>
          </p:cNvSpPr>
          <p:nvPr/>
        </p:nvSpPr>
        <p:spPr>
          <a:xfrm xmlns:a="http://schemas.openxmlformats.org/drawingml/2006/main">
            <a:off x="714375" y="27146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B33"/>
                </a:solidFill>
                <a:latin typeface="Arial"/>
                <a:ea typeface="Arial"/>
                <a:cs typeface="Arial"/>
              </a:defRPr>
            </a:defPPr>
            <a:lvl1pPr>
              <a:defRPr sz="2250" b="0">
                <a:solidFill>
                  <a:srgbClr val="142B33"/>
                </a:solidFill>
                <a:latin typeface="Arial"/>
                <a:ea typeface="Arial"/>
                <a:cs typeface="Arial"/>
              </a:defRPr>
            </a:lvl1pPr>
            <a:lvl2pPr>
              <a:defRPr sz="2250" b="0">
                <a:solidFill>
                  <a:srgbClr val="142B33"/>
                </a:solidFill>
                <a:latin typeface="Arial"/>
                <a:ea typeface="Arial"/>
                <a:cs typeface="Arial"/>
              </a:defRPr>
            </a:lvl2pPr>
            <a:lvl3pPr>
              <a:defRPr sz="2250" b="0">
                <a:solidFill>
                  <a:srgbClr val="142B33"/>
                </a:solidFill>
                <a:latin typeface="Arial"/>
                <a:ea typeface="Arial"/>
                <a:cs typeface="Arial"/>
              </a:defRPr>
            </a:lvl3pPr>
            <a:lvl4pPr>
              <a:defRPr sz="2250" b="0">
                <a:solidFill>
                  <a:srgbClr val="142B33"/>
                </a:solidFill>
                <a:latin typeface="Arial"/>
                <a:ea typeface="Arial"/>
                <a:cs typeface="Arial"/>
              </a:defRPr>
            </a:lvl4pPr>
            <a:lvl5pPr>
              <a:defRPr sz="2250" b="0">
                <a:solidFill>
                  <a:srgbClr val="142B33"/>
                </a:solidFill>
                <a:latin typeface="Arial"/>
                <a:ea typeface="Arial"/>
                <a:cs typeface="Arial"/>
              </a:defRPr>
            </a:lvl5pPr>
            <a:lvl6pPr>
              <a:defRPr sz="2250" b="0">
                <a:solidFill>
                  <a:srgbClr val="142B33"/>
                </a:solidFill>
                <a:latin typeface="Arial"/>
                <a:ea typeface="Arial"/>
                <a:cs typeface="Arial"/>
              </a:defRPr>
            </a:lvl6pPr>
            <a:lvl7pPr>
              <a:defRPr sz="2250" b="0">
                <a:solidFill>
                  <a:srgbClr val="142B33"/>
                </a:solidFill>
                <a:latin typeface="Arial"/>
                <a:ea typeface="Arial"/>
                <a:cs typeface="Arial"/>
              </a:defRPr>
            </a:lvl7pPr>
            <a:lvl8pPr>
              <a:defRPr sz="2250" b="0">
                <a:solidFill>
                  <a:srgbClr val="142B33"/>
                </a:solidFill>
                <a:latin typeface="Arial"/>
                <a:ea typeface="Arial"/>
                <a:cs typeface="Arial"/>
              </a:defRPr>
            </a:lvl8pPr>
            <a:lvl9pPr>
              <a:defRPr sz="2250" b="0">
                <a:solidFill>
                  <a:srgbClr val="142B33"/>
                </a:solidFill>
                <a:latin typeface="Arial"/>
                <a:ea typeface="Arial"/>
                <a:cs typeface="Arial"/>
              </a:defRPr>
            </a:lvl9pPr>
          </a:lstStyle>
          <a:p xmlns:a="http://schemas.openxmlformats.org/drawingml/2006/main">
            <a:pPr>
              <a:defRPr sz="2250" b="0">
                <a:solidFill>
                  <a:srgbClr val="142B33"/>
                </a:solidFill>
                <a:latin typeface="Arial"/>
                <a:ea typeface="Arial"/>
                <a:cs typeface="Arial"/>
              </a:defRPr>
            </a:pPr>
            <a:r>
              <a:rPr sz="2250" b="0">
                <a:solidFill>
                  <a:srgbClr val="142B33"/>
                </a:solidFill>
                <a:latin typeface="Arial"/>
                <a:ea typeface="Arial"/>
                <a:cs typeface="Arial"/>
              </a:rPr>
              <a:t>Historical mean targets reported for Karnataka; 72% of audited cases reportedly met the 30-minute threshold.</a:t>
            </a:r>
          </a:p>
        </p:txBody>
      </p:sp>
      <p:sp>
        <p:nvSpPr>
          <p:cNvPr id="5" name="">
            <a:extLst xmlns:a="http://schemas.openxmlformats.org/drawingml/2006/main">
              <a:ext uri="{FF2B5EF4-FFF2-40B4-BE49-F238E27FC236}">
                <a16:creationId xmlns:a16="http://schemas.microsoft.com/office/drawing/2014/main" id="{E4AC999B-76C3-46E7-BD14-BC009D435260}"/>
              </a:ext>
            </a:extLst>
          </p:cNvPr>
          <p:cNvSpPr>
            <a:spLocks xmlns:a="http://schemas.openxmlformats.org/drawingml/2006/main" noGrp="1"/>
          </p:cNvSpPr>
          <p:nvPr/>
        </p:nvSpPr>
        <p:spPr>
          <a:xfrm xmlns:a="http://schemas.openxmlformats.org/drawingml/2006/main">
            <a:off x="714375" y="4095750"/>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B33"/>
                </a:solidFill>
                <a:latin typeface="Arial"/>
                <a:ea typeface="Arial"/>
                <a:cs typeface="Arial"/>
              </a:defRPr>
            </a:defPPr>
            <a:lvl1pPr>
              <a:defRPr sz="2325" b="0">
                <a:solidFill>
                  <a:srgbClr val="142B33"/>
                </a:solidFill>
                <a:latin typeface="Arial"/>
                <a:ea typeface="Arial"/>
                <a:cs typeface="Arial"/>
              </a:defRPr>
            </a:lvl1pPr>
            <a:lvl2pPr>
              <a:defRPr sz="2325" b="0">
                <a:solidFill>
                  <a:srgbClr val="142B33"/>
                </a:solidFill>
                <a:latin typeface="Arial"/>
                <a:ea typeface="Arial"/>
                <a:cs typeface="Arial"/>
              </a:defRPr>
            </a:lvl2pPr>
            <a:lvl3pPr>
              <a:defRPr sz="2325" b="0">
                <a:solidFill>
                  <a:srgbClr val="142B33"/>
                </a:solidFill>
                <a:latin typeface="Arial"/>
                <a:ea typeface="Arial"/>
                <a:cs typeface="Arial"/>
              </a:defRPr>
            </a:lvl3pPr>
            <a:lvl4pPr>
              <a:defRPr sz="2325" b="0">
                <a:solidFill>
                  <a:srgbClr val="142B33"/>
                </a:solidFill>
                <a:latin typeface="Arial"/>
                <a:ea typeface="Arial"/>
                <a:cs typeface="Arial"/>
              </a:defRPr>
            </a:lvl4pPr>
            <a:lvl5pPr>
              <a:defRPr sz="2325" b="0">
                <a:solidFill>
                  <a:srgbClr val="142B33"/>
                </a:solidFill>
                <a:latin typeface="Arial"/>
                <a:ea typeface="Arial"/>
                <a:cs typeface="Arial"/>
              </a:defRPr>
            </a:lvl5pPr>
            <a:lvl6pPr>
              <a:defRPr sz="2325" b="0">
                <a:solidFill>
                  <a:srgbClr val="142B33"/>
                </a:solidFill>
                <a:latin typeface="Arial"/>
                <a:ea typeface="Arial"/>
                <a:cs typeface="Arial"/>
              </a:defRPr>
            </a:lvl6pPr>
            <a:lvl7pPr>
              <a:defRPr sz="2325" b="0">
                <a:solidFill>
                  <a:srgbClr val="142B33"/>
                </a:solidFill>
                <a:latin typeface="Arial"/>
                <a:ea typeface="Arial"/>
                <a:cs typeface="Arial"/>
              </a:defRPr>
            </a:lvl7pPr>
            <a:lvl8pPr>
              <a:defRPr sz="2325" b="0">
                <a:solidFill>
                  <a:srgbClr val="142B33"/>
                </a:solidFill>
                <a:latin typeface="Arial"/>
                <a:ea typeface="Arial"/>
                <a:cs typeface="Arial"/>
              </a:defRPr>
            </a:lvl8pPr>
            <a:lvl9pPr>
              <a:defRPr sz="2325" b="0">
                <a:solidFill>
                  <a:srgbClr val="142B33"/>
                </a:solidFill>
                <a:latin typeface="Arial"/>
                <a:ea typeface="Arial"/>
                <a:cs typeface="Arial"/>
              </a:defRPr>
            </a:lvl9pPr>
          </a:lstStyle>
          <a:p xmlns:a="http://schemas.openxmlformats.org/drawingml/2006/main">
            <a:pPr>
              <a:defRPr sz="2325" b="0">
                <a:solidFill>
                  <a:srgbClr val="142B33"/>
                </a:solidFill>
                <a:latin typeface="Arial"/>
                <a:ea typeface="Arial"/>
                <a:cs typeface="Arial"/>
              </a:defRPr>
            </a:pPr>
            <a:r>
              <a:rPr sz="2325" b="0">
                <a:solidFill>
                  <a:srgbClr val="142B33"/>
                </a:solidFill>
                <a:latin typeface="Arial"/>
                <a:ea typeface="Arial"/>
                <a:cs typeface="Arial"/>
              </a:rPr>
              <a:t>Response metrics can include call handling and dispatch. A graph driving estimate covers only part of the process.</a:t>
            </a:r>
          </a:p>
        </p:txBody>
      </p:sp>
      <p:sp>
        <p:nvSpPr>
          <p:cNvPr id="6" name="">
            <a:extLst xmlns:a="http://schemas.openxmlformats.org/drawingml/2006/main">
              <a:ext uri="{FF2B5EF4-FFF2-40B4-BE49-F238E27FC236}">
                <a16:creationId xmlns:a16="http://schemas.microsoft.com/office/drawing/2014/main" id="{9D9FCCE3-3B4E-4377-A297-14A738AF74B2}"/>
              </a:ext>
            </a:extLst>
          </p:cNvPr>
          <p:cNvSpPr>
            <a:spLocks xmlns:a="http://schemas.openxmlformats.org/drawingml/2006/main" noGrp="1"/>
          </p:cNvSpPr>
          <p:nvPr/>
        </p:nvSpPr>
        <p:spPr>
          <a:xfrm xmlns:a="http://schemas.openxmlformats.org/drawingml/2006/main">
            <a:off x="714375" y="5238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36A"/>
                </a:solidFill>
                <a:latin typeface="Arial"/>
                <a:ea typeface="Arial"/>
                <a:cs typeface="Arial"/>
              </a:defRPr>
            </a:defPPr>
            <a:lvl1pPr>
              <a:defRPr sz="1650" b="0">
                <a:solidFill>
                  <a:srgbClr val="53636A"/>
                </a:solidFill>
                <a:latin typeface="Arial"/>
                <a:ea typeface="Arial"/>
                <a:cs typeface="Arial"/>
              </a:defRPr>
            </a:lvl1pPr>
            <a:lvl2pPr>
              <a:defRPr sz="1650" b="0">
                <a:solidFill>
                  <a:srgbClr val="53636A"/>
                </a:solidFill>
                <a:latin typeface="Arial"/>
                <a:ea typeface="Arial"/>
                <a:cs typeface="Arial"/>
              </a:defRPr>
            </a:lvl2pPr>
            <a:lvl3pPr>
              <a:defRPr sz="1650" b="0">
                <a:solidFill>
                  <a:srgbClr val="53636A"/>
                </a:solidFill>
                <a:latin typeface="Arial"/>
                <a:ea typeface="Arial"/>
                <a:cs typeface="Arial"/>
              </a:defRPr>
            </a:lvl3pPr>
            <a:lvl4pPr>
              <a:defRPr sz="1650" b="0">
                <a:solidFill>
                  <a:srgbClr val="53636A"/>
                </a:solidFill>
                <a:latin typeface="Arial"/>
                <a:ea typeface="Arial"/>
                <a:cs typeface="Arial"/>
              </a:defRPr>
            </a:lvl4pPr>
            <a:lvl5pPr>
              <a:defRPr sz="1650" b="0">
                <a:solidFill>
                  <a:srgbClr val="53636A"/>
                </a:solidFill>
                <a:latin typeface="Arial"/>
                <a:ea typeface="Arial"/>
                <a:cs typeface="Arial"/>
              </a:defRPr>
            </a:lvl5pPr>
            <a:lvl6pPr>
              <a:defRPr sz="1650" b="0">
                <a:solidFill>
                  <a:srgbClr val="53636A"/>
                </a:solidFill>
                <a:latin typeface="Arial"/>
                <a:ea typeface="Arial"/>
                <a:cs typeface="Arial"/>
              </a:defRPr>
            </a:lvl6pPr>
            <a:lvl7pPr>
              <a:defRPr sz="1650" b="0">
                <a:solidFill>
                  <a:srgbClr val="53636A"/>
                </a:solidFill>
                <a:latin typeface="Arial"/>
                <a:ea typeface="Arial"/>
                <a:cs typeface="Arial"/>
              </a:defRPr>
            </a:lvl7pPr>
            <a:lvl8pPr>
              <a:defRPr sz="1650" b="0">
                <a:solidFill>
                  <a:srgbClr val="53636A"/>
                </a:solidFill>
                <a:latin typeface="Arial"/>
                <a:ea typeface="Arial"/>
                <a:cs typeface="Arial"/>
              </a:defRPr>
            </a:lvl8pPr>
            <a:lvl9pPr>
              <a:defRPr sz="1650" b="0">
                <a:solidFill>
                  <a:srgbClr val="53636A"/>
                </a:solidFill>
                <a:latin typeface="Arial"/>
                <a:ea typeface="Arial"/>
                <a:cs typeface="Arial"/>
              </a:defRPr>
            </a:lvl9pPr>
          </a:lstStyle>
          <a:p xmlns:a="http://schemas.openxmlformats.org/drawingml/2006/main">
            <a:pPr>
              <a:defRPr sz="1650" b="0">
                <a:solidFill>
                  <a:srgbClr val="53636A"/>
                </a:solidFill>
                <a:latin typeface="Arial"/>
                <a:ea typeface="Arial"/>
                <a:cs typeface="Arial"/>
              </a:defRPr>
            </a:pPr>
            <a:r>
              <a:rPr sz="1650" b="0">
                <a:solidFill>
                  <a:srgbClr val="53636A"/>
                </a:solidFill>
                <a:latin typeface="Arial"/>
                <a:ea typeface="Arial"/>
                <a:cs typeface="Arial"/>
              </a:rPr>
              <a:t>Audit period: 2014-15 to 2018-19. Secondary report published 9 December 2020.</a:t>
            </a:r>
          </a:p>
        </p:txBody>
      </p:sp>
      <p:sp>
        <p:nvSpPr>
          <p:cNvPr id="7" name="">
            <a:extLst xmlns:a="http://schemas.openxmlformats.org/drawingml/2006/main">
              <a:ext uri="{FF2B5EF4-FFF2-40B4-BE49-F238E27FC236}">
                <a16:creationId xmlns:a16="http://schemas.microsoft.com/office/drawing/2014/main" id="{02ED91C8-EAB9-4723-B2FF-713DFE5527C4}"/>
              </a:ext>
            </a:extLst>
          </p:cNvPr>
          <p:cNvSpPr>
            <a:spLocks xmlns:a="http://schemas.openxmlformats.org/drawingml/2006/main" noGrp="1"/>
          </p:cNvSpPr>
          <p:nvPr/>
        </p:nvSpPr>
        <p:spPr>
          <a:xfrm xmlns:a="http://schemas.openxmlformats.org/drawingml/2006/main">
            <a:off x="714375" y="56673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85E2F"/>
                </a:solidFill>
                <a:latin typeface="Arial"/>
                <a:ea typeface="Arial"/>
                <a:cs typeface="Arial"/>
              </a:defRPr>
            </a:defPPr>
            <a:lvl1pPr>
              <a:defRPr sz="2025" b="1">
                <a:solidFill>
                  <a:srgbClr val="B85E2F"/>
                </a:solidFill>
                <a:latin typeface="Arial"/>
                <a:ea typeface="Arial"/>
                <a:cs typeface="Arial"/>
              </a:defRPr>
            </a:lvl1pPr>
            <a:lvl2pPr>
              <a:defRPr sz="2025" b="1">
                <a:solidFill>
                  <a:srgbClr val="B85E2F"/>
                </a:solidFill>
                <a:latin typeface="Arial"/>
                <a:ea typeface="Arial"/>
                <a:cs typeface="Arial"/>
              </a:defRPr>
            </a:lvl2pPr>
            <a:lvl3pPr>
              <a:defRPr sz="2025" b="1">
                <a:solidFill>
                  <a:srgbClr val="B85E2F"/>
                </a:solidFill>
                <a:latin typeface="Arial"/>
                <a:ea typeface="Arial"/>
                <a:cs typeface="Arial"/>
              </a:defRPr>
            </a:lvl3pPr>
            <a:lvl4pPr>
              <a:defRPr sz="2025" b="1">
                <a:solidFill>
                  <a:srgbClr val="B85E2F"/>
                </a:solidFill>
                <a:latin typeface="Arial"/>
                <a:ea typeface="Arial"/>
                <a:cs typeface="Arial"/>
              </a:defRPr>
            </a:lvl4pPr>
            <a:lvl5pPr>
              <a:defRPr sz="2025" b="1">
                <a:solidFill>
                  <a:srgbClr val="B85E2F"/>
                </a:solidFill>
                <a:latin typeface="Arial"/>
                <a:ea typeface="Arial"/>
                <a:cs typeface="Arial"/>
              </a:defRPr>
            </a:lvl5pPr>
            <a:lvl6pPr>
              <a:defRPr sz="2025" b="1">
                <a:solidFill>
                  <a:srgbClr val="B85E2F"/>
                </a:solidFill>
                <a:latin typeface="Arial"/>
                <a:ea typeface="Arial"/>
                <a:cs typeface="Arial"/>
              </a:defRPr>
            </a:lvl6pPr>
            <a:lvl7pPr>
              <a:defRPr sz="2025" b="1">
                <a:solidFill>
                  <a:srgbClr val="B85E2F"/>
                </a:solidFill>
                <a:latin typeface="Arial"/>
                <a:ea typeface="Arial"/>
                <a:cs typeface="Arial"/>
              </a:defRPr>
            </a:lvl7pPr>
            <a:lvl8pPr>
              <a:defRPr sz="2025" b="1">
                <a:solidFill>
                  <a:srgbClr val="B85E2F"/>
                </a:solidFill>
                <a:latin typeface="Arial"/>
                <a:ea typeface="Arial"/>
                <a:cs typeface="Arial"/>
              </a:defRPr>
            </a:lvl8pPr>
            <a:lvl9pPr>
              <a:defRPr sz="2025" b="1">
                <a:solidFill>
                  <a:srgbClr val="B85E2F"/>
                </a:solidFill>
                <a:latin typeface="Arial"/>
                <a:ea typeface="Arial"/>
                <a:cs typeface="Arial"/>
              </a:defRPr>
            </a:lvl9pPr>
          </a:lstStyle>
          <a:p xmlns:a="http://schemas.openxmlformats.org/drawingml/2006/main">
            <a:pPr>
              <a:defRPr sz="2025" b="1">
                <a:solidFill>
                  <a:srgbClr val="B85E2F"/>
                </a:solidFill>
                <a:latin typeface="Arial"/>
                <a:ea typeface="Arial"/>
                <a:cs typeface="Arial"/>
              </a:defRPr>
            </a:pPr>
            <a:r>
              <a:rPr sz="2025" b="1">
                <a:solidFill>
                  <a:srgbClr val="B85E2F"/>
                </a:solidFill>
                <a:latin typeface="Arial"/>
                <a:ea typeface="Arial"/>
                <a:cs typeface="Arial"/>
              </a:rPr>
              <a:t>These figures cannot establish clinical benefit from this classroom model.</a:t>
            </a:r>
          </a:p>
        </p:txBody>
      </p:sp>
    </p:spTree>
    <p:extLst>
      <p:ext uri="{BB962C8B-B14F-4D97-AF65-F5344CB8AC3E}">
        <p14:creationId xmlns:p14="http://schemas.microsoft.com/office/powerpoint/2010/main" val="2117519220"/>
      </p:ext>
    </p:extLst>
  </p:cSld>
</p:sld>
</file>

<file path=ppt/slides/slide10.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05E91D-DA66-4E55-99F1-82E77D975CB5}"/>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The human experiment</a:t>
            </a:r>
          </a:p>
        </p:txBody>
      </p:sp>
      <p:sp>
        <p:nvSpPr>
          <p:cNvPr id="2" name="">
            <a:extLst xmlns:a="http://schemas.openxmlformats.org/drawingml/2006/main">
              <a:ext uri="{FF2B5EF4-FFF2-40B4-BE49-F238E27FC236}">
                <a16:creationId xmlns:a16="http://schemas.microsoft.com/office/drawing/2014/main" id="{0B0EE2EB-B157-4DD4-AAA5-4B99F65624D0}"/>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15C31F5-63FB-434B-807B-CD233604DC16}"/>
              </a:ext>
            </a:extLst>
          </p:cNvPr>
          <p:cNvSpPr>
            <a:spLocks xmlns:a="http://schemas.openxmlformats.org/drawingml/2006/main" noGrp="1"/>
          </p:cNvSpPr>
          <p:nvPr/>
        </p:nvSpPr>
        <p:spPr>
          <a:xfrm xmlns:a="http://schemas.openxmlformats.org/drawingml/2006/main">
            <a:off x="666750" y="16668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Show the same baseline graph and weights. Collect independent guesses before revealing algorithm results.</a:t>
            </a:r>
          </a:p>
        </p:txBody>
      </p:sp>
      <p:sp>
        <p:nvSpPr>
          <p:cNvPr id="4" name="">
            <a:extLst xmlns:a="http://schemas.openxmlformats.org/drawingml/2006/main">
              <a:ext uri="{FF2B5EF4-FFF2-40B4-BE49-F238E27FC236}">
                <a16:creationId xmlns:a16="http://schemas.microsoft.com/office/drawing/2014/main" id="{724AA9CB-6814-48D8-A668-33AC78442704}"/>
              </a:ext>
            </a:extLst>
          </p:cNvPr>
          <p:cNvSpPr>
            <a:spLocks xmlns:a="http://schemas.openxmlformats.org/drawingml/2006/main" noGrp="1"/>
          </p:cNvSpPr>
          <p:nvPr/>
        </p:nvSpPr>
        <p:spPr>
          <a:xfrm xmlns:a="http://schemas.openxmlformats.org/drawingml/2006/main">
            <a:off x="666750" y="29527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Record chosen route, decision time, manual completion time and area familiarity. Keep travel time and computation time separate.</a:t>
            </a:r>
          </a:p>
        </p:txBody>
      </p:sp>
      <p:sp>
        <p:nvSpPr>
          <p:cNvPr id="5" name="">
            <a:extLst xmlns:a="http://schemas.openxmlformats.org/drawingml/2006/main">
              <a:ext uri="{FF2B5EF4-FFF2-40B4-BE49-F238E27FC236}">
                <a16:creationId xmlns:a16="http://schemas.microsoft.com/office/drawing/2014/main" id="{294B1B4E-C433-4679-9B1D-7863BF237707}"/>
              </a:ext>
            </a:extLst>
          </p:cNvPr>
          <p:cNvSpPr>
            <a:spLocks xmlns:a="http://schemas.openxmlformats.org/drawingml/2006/main" noGrp="1"/>
          </p:cNvSpPr>
          <p:nvPr/>
        </p:nvSpPr>
        <p:spPr>
          <a:xfrm xmlns:a="http://schemas.openxmlformats.org/drawingml/2006/main">
            <a:off x="666750" y="42386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Route gap (%) = 100 × (chosen cost − optimal cost) ÷ optimal cost. A human optimum has a gap of zero.</a:t>
            </a:r>
          </a:p>
        </p:txBody>
      </p:sp>
    </p:spTree>
    <p:extLst>
      <p:ext uri="{BB962C8B-B14F-4D97-AF65-F5344CB8AC3E}">
        <p14:creationId xmlns:p14="http://schemas.microsoft.com/office/powerpoint/2010/main" val="1188804335"/>
      </p:ext>
    </p:extLst>
  </p:cSld>
</p:sld>
</file>

<file path=ppt/slides/slide11.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EA8AF2-67BD-41B3-BE0A-9E56195001CB}"/>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Three-hour learning session</a:t>
            </a:r>
          </a:p>
        </p:txBody>
      </p:sp>
      <p:sp>
        <p:nvSpPr>
          <p:cNvPr id="2" name="">
            <a:extLst xmlns:a="http://schemas.openxmlformats.org/drawingml/2006/main">
              <a:ext uri="{FF2B5EF4-FFF2-40B4-BE49-F238E27FC236}">
                <a16:creationId xmlns:a16="http://schemas.microsoft.com/office/drawing/2014/main" id="{378EF43C-B01C-4DD2-AA93-C662B01BBE8B}"/>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F15CC00E-966A-421B-AFD2-A1327D374AA2}"/>
              </a:ext>
            </a:extLst>
          </p:cNvPr>
          <p:cNvGraphicFramePr/>
          <p:nvPr/>
        </p:nvGraphicFramePr>
        <p:xfrm>
          <a:off xmlns:a="http://schemas.openxmlformats.org/drawingml/2006/main" x="619125" y="1809750"/>
          <a:ext xmlns:a="http://schemas.openxmlformats.org/drawingml/2006/main" cx="10953750" cy="3048000"/>
        </p:xfrm>
        <a:graphic xmlns:a="http://schemas.openxmlformats.org/drawingml/2006/main">
          <a:graphicData uri="http://schemas.openxmlformats.org/drawingml/2006/table">
            <a:tbl>
              <a:tblPr/>
              <a:tblGrid>
                <a:gridCol w="2000250"/>
                <a:gridCol w="8953500"/>
              </a:tblGrid>
              <a:tr h="609600">
                <a:tc>
                  <a:txBody>
                    <a:bodyPr/>
                    <a:lstStyle/>
                    <a:p>
                      <a:r>
                        <a:rPr sz="1725" b="1">
                          <a:solidFill>
                            <a:srgbClr val="142B33"/>
                          </a:solidFill>
                          <a:latin typeface="Arial"/>
                          <a:ea typeface="Arial"/>
                          <a:cs typeface="Arial"/>
                        </a:rPr>
                        <a:t>Minutes</a:t>
                      </a:r>
                    </a:p>
                  </a:txBody>
                  <a:tcPr marL="91440" marR="91440" marT="45720" marB="45720">
                    <a:solidFill>
                      <a:srgbClr val="E5EEEA"/>
                    </a:solidFill>
                  </a:tcPr>
                </a:tc>
                <a:tc>
                  <a:txBody>
                    <a:bodyPr/>
                    <a:lstStyle/>
                    <a:p>
                      <a:r>
                        <a:rPr sz="1725" b="1">
                          <a:solidFill>
                            <a:srgbClr val="142B33"/>
                          </a:solidFill>
                          <a:latin typeface="Arial"/>
                          <a:ea typeface="Arial"/>
                          <a:cs typeface="Arial"/>
                        </a:rPr>
                        <a:t>Activity</a:t>
                      </a:r>
                    </a:p>
                  </a:txBody>
                  <a:tcPr marL="91440" marR="91440" marT="45720" marB="45720">
                    <a:solidFill>
                      <a:srgbClr val="E5EEEA"/>
                    </a:solidFill>
                  </a:tcPr>
                </a:tc>
              </a:tr>
              <a:tr h="609600">
                <a:tc>
                  <a:txBody>
                    <a:bodyPr/>
                    <a:lstStyle/>
                    <a:p>
                      <a:r>
                        <a:rPr sz="1725" b="0">
                          <a:solidFill>
                            <a:srgbClr val="142B33"/>
                          </a:solidFill>
                          <a:latin typeface="Arial"/>
                          <a:ea typeface="Arial"/>
                          <a:cs typeface="Arial"/>
                        </a:rPr>
                        <a:t>0-45</a:t>
                      </a:r>
                    </a:p>
                  </a:txBody>
                  <a:tcPr marL="91440" marR="91440" marT="45720" marB="45720">
                    <a:solidFill>
                      <a:srgbClr val="F8F6F0"/>
                    </a:solidFill>
                  </a:tcPr>
                </a:tc>
                <a:tc>
                  <a:txBody>
                    <a:bodyPr/>
                    <a:lstStyle/>
                    <a:p>
                      <a:r>
                        <a:rPr sz="1725" b="0">
                          <a:solidFill>
                            <a:srgbClr val="142B33"/>
                          </a:solidFill>
                          <a:latin typeface="Arial"/>
                          <a:ea typeface="Arial"/>
                          <a:cs typeface="Arial"/>
                        </a:rPr>
                        <a:t>Scenario, locations and graph construction</a:t>
                      </a:r>
                    </a:p>
                  </a:txBody>
                  <a:tcPr marL="91440" marR="91440" marT="45720" marB="45720">
                    <a:solidFill>
                      <a:srgbClr val="F8F6F0"/>
                    </a:solidFill>
                  </a:tcPr>
                </a:tc>
              </a:tr>
              <a:tr h="609600">
                <a:tc>
                  <a:txBody>
                    <a:bodyPr/>
                    <a:lstStyle/>
                    <a:p>
                      <a:r>
                        <a:rPr sz="1725" b="0">
                          <a:solidFill>
                            <a:srgbClr val="142B33"/>
                          </a:solidFill>
                          <a:latin typeface="Arial"/>
                          <a:ea typeface="Arial"/>
                          <a:cs typeface="Arial"/>
                        </a:rPr>
                        <a:t>45-95</a:t>
                      </a:r>
                    </a:p>
                  </a:txBody>
                  <a:tcPr marL="91440" marR="91440" marT="45720" marB="45720">
                    <a:solidFill>
                      <a:srgbClr val="F8F6F0"/>
                    </a:solidFill>
                  </a:tcPr>
                </a:tc>
                <a:tc>
                  <a:txBody>
                    <a:bodyPr/>
                    <a:lstStyle/>
                    <a:p>
                      <a:r>
                        <a:rPr sz="1725" b="0">
                          <a:solidFill>
                            <a:srgbClr val="142B33"/>
                          </a:solidFill>
                          <a:latin typeface="Arial"/>
                          <a:ea typeface="Arial"/>
                          <a:cs typeface="Arial"/>
                        </a:rPr>
                        <a:t>Human guesses and manual Dijkstra trace</a:t>
                      </a:r>
                    </a:p>
                  </a:txBody>
                  <a:tcPr marL="91440" marR="91440" marT="45720" marB="45720">
                    <a:solidFill>
                      <a:srgbClr val="F8F6F0"/>
                    </a:solidFill>
                  </a:tcPr>
                </a:tc>
              </a:tr>
              <a:tr h="609600">
                <a:tc>
                  <a:txBody>
                    <a:bodyPr/>
                    <a:lstStyle/>
                    <a:p>
                      <a:r>
                        <a:rPr sz="1725" b="0">
                          <a:solidFill>
                            <a:srgbClr val="142B33"/>
                          </a:solidFill>
                          <a:latin typeface="Arial"/>
                          <a:ea typeface="Arial"/>
                          <a:cs typeface="Arial"/>
                        </a:rPr>
                        <a:t>95-140</a:t>
                      </a:r>
                    </a:p>
                  </a:txBody>
                  <a:tcPr marL="91440" marR="91440" marT="45720" marB="45720">
                    <a:solidFill>
                      <a:srgbClr val="F8F6F0"/>
                    </a:solidFill>
                  </a:tcPr>
                </a:tc>
                <a:tc>
                  <a:txBody>
                    <a:bodyPr/>
                    <a:lstStyle/>
                    <a:p>
                      <a:r>
                        <a:rPr sz="1725" b="0">
                          <a:solidFill>
                            <a:srgbClr val="142B33"/>
                          </a:solidFill>
                          <a:latin typeface="Arial"/>
                          <a:ea typeface="Arial"/>
                          <a:cs typeface="Arial"/>
                        </a:rPr>
                        <a:t>Code verification, objective comparison and BC scenarios</a:t>
                      </a:r>
                    </a:p>
                  </a:txBody>
                  <a:tcPr marL="91440" marR="91440" marT="45720" marB="45720">
                    <a:solidFill>
                      <a:srgbClr val="F8F6F0"/>
                    </a:solidFill>
                  </a:tcPr>
                </a:tc>
              </a:tr>
              <a:tr h="609600">
                <a:tc>
                  <a:txBody>
                    <a:bodyPr/>
                    <a:lstStyle/>
                    <a:p>
                      <a:r>
                        <a:rPr sz="1725" b="0">
                          <a:solidFill>
                            <a:srgbClr val="142B33"/>
                          </a:solidFill>
                          <a:latin typeface="Arial"/>
                          <a:ea typeface="Arial"/>
                          <a:cs typeface="Arial"/>
                        </a:rPr>
                        <a:t>140-180</a:t>
                      </a:r>
                    </a:p>
                  </a:txBody>
                  <a:tcPr marL="91440" marR="91440" marT="45720" marB="45720">
                    <a:solidFill>
                      <a:srgbClr val="F8F6F0"/>
                    </a:solidFill>
                  </a:tcPr>
                </a:tc>
                <a:tc>
                  <a:txBody>
                    <a:bodyPr/>
                    <a:lstStyle/>
                    <a:p>
                      <a:r>
                        <a:rPr sz="1725" b="0">
                          <a:solidFill>
                            <a:srgbClr val="142B33"/>
                          </a:solidFill>
                          <a:latin typeface="Arial"/>
                          <a:ea typeface="Arial"/>
                          <a:cs typeface="Arial"/>
                        </a:rPr>
                        <a:t>Map-service comparison, service context and presentations</a:t>
                      </a:r>
                    </a:p>
                  </a:txBody>
                  <a:tcPr marL="91440" marR="91440" marT="45720" marB="45720">
                    <a:solidFill>
                      <a:srgbClr val="F8F6F0"/>
                    </a:solidFill>
                  </a:tcPr>
                </a:tc>
              </a:tr>
            </a:tbl>
          </a:graphicData>
        </a:graphic>
      </p:graphicFrame>
      <p:sp>
        <p:nvSpPr>
          <p:cNvPr id="4" name="">
            <a:extLst xmlns:a="http://schemas.openxmlformats.org/drawingml/2006/main">
              <a:ext uri="{FF2B5EF4-FFF2-40B4-BE49-F238E27FC236}">
                <a16:creationId xmlns:a16="http://schemas.microsoft.com/office/drawing/2014/main" id="{6D196A85-5A65-426A-9242-73CC98D85B43}"/>
              </a:ext>
            </a:extLst>
          </p:cNvPr>
          <p:cNvSpPr>
            <a:spLocks xmlns:a="http://schemas.openxmlformats.org/drawingml/2006/main" noGrp="1"/>
          </p:cNvSpPr>
          <p:nvPr/>
        </p:nvSpPr>
        <p:spPr>
          <a:xfrm xmlns:a="http://schemas.openxmlformats.org/drawingml/2006/main">
            <a:off x="714375" y="54292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Evidence: graph, trace, route metrics, scenario results and honest reflection.</a:t>
            </a:r>
          </a:p>
        </p:txBody>
      </p:sp>
    </p:spTree>
    <p:extLst>
      <p:ext uri="{BB962C8B-B14F-4D97-AF65-F5344CB8AC3E}">
        <p14:creationId xmlns:p14="http://schemas.microsoft.com/office/powerpoint/2010/main" val="1665340086"/>
      </p:ext>
    </p:extLst>
  </p:cSld>
</p:sld>
</file>

<file path=ppt/slides/slide1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C6D6C9-FD24-44E6-85A0-709982D092C3}"/>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Findings and remaining observations</a:t>
            </a:r>
          </a:p>
        </p:txBody>
      </p:sp>
      <p:sp>
        <p:nvSpPr>
          <p:cNvPr id="2" name="">
            <a:extLst xmlns:a="http://schemas.openxmlformats.org/drawingml/2006/main">
              <a:ext uri="{FF2B5EF4-FFF2-40B4-BE49-F238E27FC236}">
                <a16:creationId xmlns:a16="http://schemas.microsoft.com/office/drawing/2014/main" id="{A0A5DF72-EAE9-4BEF-BC83-FAF29515AC8D}"/>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CD612F3B-5212-4008-A070-6888C66FF3DE}"/>
              </a:ext>
            </a:extLst>
          </p:cNvPr>
          <p:cNvSpPr>
            <a:spLocks xmlns:a="http://schemas.openxmlformats.org/drawingml/2006/main" noGrp="1"/>
          </p:cNvSpPr>
          <p:nvPr/>
        </p:nvSpPr>
        <p:spPr>
          <a:xfrm xmlns:a="http://schemas.openxmlformats.org/drawingml/2006/main">
            <a:off x="666750" y="16668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Dijkstra returns an optimum for the declared graph and objective. The independent all-pairs check agrees.</a:t>
            </a:r>
          </a:p>
        </p:txBody>
      </p:sp>
      <p:sp>
        <p:nvSpPr>
          <p:cNvPr id="4" name="">
            <a:extLst xmlns:a="http://schemas.openxmlformats.org/drawingml/2006/main">
              <a:ext uri="{FF2B5EF4-FFF2-40B4-BE49-F238E27FC236}">
                <a16:creationId xmlns:a16="http://schemas.microsoft.com/office/drawing/2014/main" id="{9E7FCC2B-9210-438D-BC2E-19F34D69CC8B}"/>
              </a:ext>
            </a:extLst>
          </p:cNvPr>
          <p:cNvSpPr>
            <a:spLocks xmlns:a="http://schemas.openxmlformats.org/drawingml/2006/main" noGrp="1"/>
          </p:cNvSpPr>
          <p:nvPr/>
        </p:nvSpPr>
        <p:spPr>
          <a:xfrm xmlns:a="http://schemas.openxmlformats.org/drawingml/2006/main">
            <a:off x="666750" y="29527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Choosing corridors, road access points and weights changes the answer. The NIMHANS detour demonstrates that effect.</a:t>
            </a:r>
          </a:p>
        </p:txBody>
      </p:sp>
      <p:sp>
        <p:nvSpPr>
          <p:cNvPr id="5" name="">
            <a:extLst xmlns:a="http://schemas.openxmlformats.org/drawingml/2006/main">
              <a:ext uri="{FF2B5EF4-FFF2-40B4-BE49-F238E27FC236}">
                <a16:creationId xmlns:a16="http://schemas.microsoft.com/office/drawing/2014/main" id="{129FEE70-F5F3-4462-AA40-98D188541001}"/>
              </a:ext>
            </a:extLst>
          </p:cNvPr>
          <p:cNvSpPr>
            <a:spLocks xmlns:a="http://schemas.openxmlformats.org/drawingml/2006/main" noGrp="1"/>
          </p:cNvSpPr>
          <p:nvPr/>
        </p:nvSpPr>
        <p:spPr>
          <a:xfrm xmlns:a="http://schemas.openxmlformats.org/drawingml/2006/main">
            <a:off x="666750" y="42386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3"/>
                </a:solidFill>
                <a:latin typeface="Arial"/>
                <a:ea typeface="Arial"/>
                <a:cs typeface="Arial"/>
              </a:defRPr>
            </a:defPPr>
            <a:lvl1pPr>
              <a:defRPr sz="2175" b="0">
                <a:solidFill>
                  <a:srgbClr val="142B33"/>
                </a:solidFill>
                <a:latin typeface="Arial"/>
                <a:ea typeface="Arial"/>
                <a:cs typeface="Arial"/>
              </a:defRPr>
            </a:lvl1pPr>
            <a:lvl2pPr>
              <a:defRPr sz="2175" b="0">
                <a:solidFill>
                  <a:srgbClr val="142B33"/>
                </a:solidFill>
                <a:latin typeface="Arial"/>
                <a:ea typeface="Arial"/>
                <a:cs typeface="Arial"/>
              </a:defRPr>
            </a:lvl2pPr>
            <a:lvl3pPr>
              <a:defRPr sz="2175" b="0">
                <a:solidFill>
                  <a:srgbClr val="142B33"/>
                </a:solidFill>
                <a:latin typeface="Arial"/>
                <a:ea typeface="Arial"/>
                <a:cs typeface="Arial"/>
              </a:defRPr>
            </a:lvl3pPr>
            <a:lvl4pPr>
              <a:defRPr sz="2175" b="0">
                <a:solidFill>
                  <a:srgbClr val="142B33"/>
                </a:solidFill>
                <a:latin typeface="Arial"/>
                <a:ea typeface="Arial"/>
                <a:cs typeface="Arial"/>
              </a:defRPr>
            </a:lvl4pPr>
            <a:lvl5pPr>
              <a:defRPr sz="2175" b="0">
                <a:solidFill>
                  <a:srgbClr val="142B33"/>
                </a:solidFill>
                <a:latin typeface="Arial"/>
                <a:ea typeface="Arial"/>
                <a:cs typeface="Arial"/>
              </a:defRPr>
            </a:lvl5pPr>
            <a:lvl6pPr>
              <a:defRPr sz="2175" b="0">
                <a:solidFill>
                  <a:srgbClr val="142B33"/>
                </a:solidFill>
                <a:latin typeface="Arial"/>
                <a:ea typeface="Arial"/>
                <a:cs typeface="Arial"/>
              </a:defRPr>
            </a:lvl6pPr>
            <a:lvl7pPr>
              <a:defRPr sz="2175" b="0">
                <a:solidFill>
                  <a:srgbClr val="142B33"/>
                </a:solidFill>
                <a:latin typeface="Arial"/>
                <a:ea typeface="Arial"/>
                <a:cs typeface="Arial"/>
              </a:defRPr>
            </a:lvl7pPr>
            <a:lvl8pPr>
              <a:defRPr sz="2175" b="0">
                <a:solidFill>
                  <a:srgbClr val="142B33"/>
                </a:solidFill>
                <a:latin typeface="Arial"/>
                <a:ea typeface="Arial"/>
                <a:cs typeface="Arial"/>
              </a:defRPr>
            </a:lvl8pPr>
            <a:lvl9pPr>
              <a:defRPr sz="2175" b="0">
                <a:solidFill>
                  <a:srgbClr val="142B33"/>
                </a:solidFill>
                <a:latin typeface="Arial"/>
                <a:ea typeface="Arial"/>
                <a:cs typeface="Arial"/>
              </a:defRPr>
            </a:lvl9pPr>
          </a:lstStyle>
          <a:p xmlns:a="http://schemas.openxmlformats.org/drawingml/2006/main">
            <a:pPr>
              <a:defRPr sz="2175" b="0">
                <a:solidFill>
                  <a:srgbClr val="142B33"/>
                </a:solidFill>
                <a:latin typeface="Arial"/>
                <a:ea typeface="Arial"/>
                <a:cs typeface="Arial"/>
              </a:defRPr>
            </a:pPr>
            <a:r>
              <a:rPr sz="2175" b="0">
                <a:solidFill>
                  <a:srgbClr val="142B33"/>
                </a:solidFill>
                <a:latin typeface="Arial"/>
                <a:ea typeface="Arial"/>
                <a:cs typeface="Arial"/>
              </a:rPr>
              <a:t>Add real participant observations next. Report their route gaps and timings without assuming intuition must lose.</a:t>
            </a:r>
          </a:p>
        </p:txBody>
      </p:sp>
    </p:spTree>
    <p:extLst>
      <p:ext uri="{BB962C8B-B14F-4D97-AF65-F5344CB8AC3E}">
        <p14:creationId xmlns:p14="http://schemas.microsoft.com/office/powerpoint/2010/main" val="1886809258"/>
      </p:ext>
    </p:extLst>
  </p:cSld>
</p:sld>
</file>

<file path=ppt/slides/slide1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66C004-3BE9-4666-A8AE-C9CEE6CC934D}"/>
              </a:ext>
            </a:extLst>
          </p:cNvPr>
          <p:cNvSpPr>
            <a:spLocks xmlns:a="http://schemas.openxmlformats.org/drawingml/2006/main" noGrp="1"/>
          </p:cNvSpPr>
          <p:nvPr/>
        </p:nvSpPr>
        <p:spPr>
          <a:xfrm xmlns:a="http://schemas.openxmlformats.org/drawingml/2006/main">
            <a:off x="571500" y="428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B33"/>
                </a:solidFill>
                <a:latin typeface="Arial"/>
                <a:ea typeface="Arial"/>
                <a:cs typeface="Arial"/>
              </a:defRPr>
            </a:defPPr>
            <a:lvl1pPr>
              <a:defRPr sz="3150" b="1">
                <a:solidFill>
                  <a:srgbClr val="142B33"/>
                </a:solidFill>
                <a:latin typeface="Arial"/>
                <a:ea typeface="Arial"/>
                <a:cs typeface="Arial"/>
              </a:defRPr>
            </a:lvl1pPr>
            <a:lvl2pPr>
              <a:defRPr sz="3150" b="1">
                <a:solidFill>
                  <a:srgbClr val="142B33"/>
                </a:solidFill>
                <a:latin typeface="Arial"/>
                <a:ea typeface="Arial"/>
                <a:cs typeface="Arial"/>
              </a:defRPr>
            </a:lvl2pPr>
            <a:lvl3pPr>
              <a:defRPr sz="3150" b="1">
                <a:solidFill>
                  <a:srgbClr val="142B33"/>
                </a:solidFill>
                <a:latin typeface="Arial"/>
                <a:ea typeface="Arial"/>
                <a:cs typeface="Arial"/>
              </a:defRPr>
            </a:lvl3pPr>
            <a:lvl4pPr>
              <a:defRPr sz="3150" b="1">
                <a:solidFill>
                  <a:srgbClr val="142B33"/>
                </a:solidFill>
                <a:latin typeface="Arial"/>
                <a:ea typeface="Arial"/>
                <a:cs typeface="Arial"/>
              </a:defRPr>
            </a:lvl4pPr>
            <a:lvl5pPr>
              <a:defRPr sz="3150" b="1">
                <a:solidFill>
                  <a:srgbClr val="142B33"/>
                </a:solidFill>
                <a:latin typeface="Arial"/>
                <a:ea typeface="Arial"/>
                <a:cs typeface="Arial"/>
              </a:defRPr>
            </a:lvl5pPr>
            <a:lvl6pPr>
              <a:defRPr sz="3150" b="1">
                <a:solidFill>
                  <a:srgbClr val="142B33"/>
                </a:solidFill>
                <a:latin typeface="Arial"/>
                <a:ea typeface="Arial"/>
                <a:cs typeface="Arial"/>
              </a:defRPr>
            </a:lvl6pPr>
            <a:lvl7pPr>
              <a:defRPr sz="3150" b="1">
                <a:solidFill>
                  <a:srgbClr val="142B33"/>
                </a:solidFill>
                <a:latin typeface="Arial"/>
                <a:ea typeface="Arial"/>
                <a:cs typeface="Arial"/>
              </a:defRPr>
            </a:lvl7pPr>
            <a:lvl8pPr>
              <a:defRPr sz="3150" b="1">
                <a:solidFill>
                  <a:srgbClr val="142B33"/>
                </a:solidFill>
                <a:latin typeface="Arial"/>
                <a:ea typeface="Arial"/>
                <a:cs typeface="Arial"/>
              </a:defRPr>
            </a:lvl8pPr>
            <a:lvl9pPr>
              <a:defRPr sz="3150" b="1">
                <a:solidFill>
                  <a:srgbClr val="142B33"/>
                </a:solidFill>
                <a:latin typeface="Arial"/>
                <a:ea typeface="Arial"/>
                <a:cs typeface="Arial"/>
              </a:defRPr>
            </a:lvl9pPr>
          </a:lstStyle>
          <a:p xmlns:a="http://schemas.openxmlformats.org/drawingml/2006/main">
            <a:pPr>
              <a:defRPr sz="3150" b="1">
                <a:solidFill>
                  <a:srgbClr val="142B33"/>
                </a:solidFill>
                <a:latin typeface="Arial"/>
                <a:ea typeface="Arial"/>
                <a:cs typeface="Arial"/>
              </a:defRPr>
            </a:pPr>
            <a:r>
              <a:rPr sz="3150" b="1">
                <a:solidFill>
                  <a:srgbClr val="142B33"/>
                </a:solidFill>
                <a:latin typeface="Arial"/>
                <a:ea typeface="Arial"/>
                <a:cs typeface="Arial"/>
              </a:rPr>
              <a:t>Manipal Hospital, Jayanagar</a:t>
            </a:r>
          </a:p>
        </p:txBody>
      </p:sp>
      <p:sp>
        <p:nvSpPr>
          <p:cNvPr id="2" name="">
            <a:extLst xmlns:a="http://schemas.openxmlformats.org/drawingml/2006/main">
              <a:ext uri="{FF2B5EF4-FFF2-40B4-BE49-F238E27FC236}">
                <a16:creationId xmlns:a16="http://schemas.microsoft.com/office/drawing/2014/main" id="{1D1BD80C-947D-4182-8C15-92F794739242}"/>
              </a:ext>
            </a:extLst>
          </p:cNvPr>
          <p:cNvSpPr>
            <a:spLocks xmlns:a="http://schemas.openxmlformats.org/drawingml/2006/main" noGrp="1"/>
          </p:cNvSpPr>
          <p:nvPr/>
        </p:nvSpPr>
        <p:spPr>
          <a:xfrm xmlns:a="http://schemas.openxmlformats.org/drawingml/2006/main">
            <a:off x="1123950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A"/>
                </a:solidFill>
                <a:latin typeface="Arial"/>
                <a:ea typeface="Arial"/>
                <a:cs typeface="Arial"/>
              </a:defRPr>
            </a:defPPr>
            <a:lvl1pPr>
              <a:defRPr sz="1200" b="0">
                <a:solidFill>
                  <a:srgbClr val="53636A"/>
                </a:solidFill>
                <a:latin typeface="Arial"/>
                <a:ea typeface="Arial"/>
                <a:cs typeface="Arial"/>
              </a:defRPr>
            </a:lvl1pPr>
            <a:lvl2pPr>
              <a:defRPr sz="1200" b="0">
                <a:solidFill>
                  <a:srgbClr val="53636A"/>
                </a:solidFill>
                <a:latin typeface="Arial"/>
                <a:ea typeface="Arial"/>
                <a:cs typeface="Arial"/>
              </a:defRPr>
            </a:lvl2pPr>
            <a:lvl3pPr>
              <a:defRPr sz="1200" b="0">
                <a:solidFill>
                  <a:srgbClr val="53636A"/>
                </a:solidFill>
                <a:latin typeface="Arial"/>
                <a:ea typeface="Arial"/>
                <a:cs typeface="Arial"/>
              </a:defRPr>
            </a:lvl3pPr>
            <a:lvl4pPr>
              <a:defRPr sz="1200" b="0">
                <a:solidFill>
                  <a:srgbClr val="53636A"/>
                </a:solidFill>
                <a:latin typeface="Arial"/>
                <a:ea typeface="Arial"/>
                <a:cs typeface="Arial"/>
              </a:defRPr>
            </a:lvl4pPr>
            <a:lvl5pPr>
              <a:defRPr sz="1200" b="0">
                <a:solidFill>
                  <a:srgbClr val="53636A"/>
                </a:solidFill>
                <a:latin typeface="Arial"/>
                <a:ea typeface="Arial"/>
                <a:cs typeface="Arial"/>
              </a:defRPr>
            </a:lvl5pPr>
            <a:lvl6pPr>
              <a:defRPr sz="1200" b="0">
                <a:solidFill>
                  <a:srgbClr val="53636A"/>
                </a:solidFill>
                <a:latin typeface="Arial"/>
                <a:ea typeface="Arial"/>
                <a:cs typeface="Arial"/>
              </a:defRPr>
            </a:lvl6pPr>
            <a:lvl7pPr>
              <a:defRPr sz="1200" b="0">
                <a:solidFill>
                  <a:srgbClr val="53636A"/>
                </a:solidFill>
                <a:latin typeface="Arial"/>
                <a:ea typeface="Arial"/>
                <a:cs typeface="Arial"/>
              </a:defRPr>
            </a:lvl7pPr>
            <a:lvl8pPr>
              <a:defRPr sz="1200" b="0">
                <a:solidFill>
                  <a:srgbClr val="53636A"/>
                </a:solidFill>
                <a:latin typeface="Arial"/>
                <a:ea typeface="Arial"/>
                <a:cs typeface="Arial"/>
              </a:defRPr>
            </a:lvl8pPr>
            <a:lvl9pPr>
              <a:defRPr sz="1200" b="0">
                <a:solidFill>
                  <a:srgbClr val="53636A"/>
                </a:solidFill>
                <a:latin typeface="Arial"/>
                <a:ea typeface="Arial"/>
                <a:cs typeface="Arial"/>
              </a:defRPr>
            </a:lvl9pPr>
          </a:lstStyle>
          <a:p xmlns:a="http://schemas.openxmlformats.org/drawingml/2006/main">
            <a:pPr>
              <a:defRPr sz="1200" b="0">
                <a:solidFill>
                  <a:srgbClr val="53636A"/>
                </a:solidFill>
                <a:latin typeface="Arial"/>
                <a:ea typeface="Arial"/>
                <a:cs typeface="Arial"/>
              </a:defRPr>
            </a:pPr>
            <a:r>
              <a:rPr sz="1200" b="0">
                <a:solidFill>
                  <a:srgbClr val="53636A"/>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10215713-F9C6-4EE6-911A-2B4AFBC7B058}"/>
              </a:ext>
            </a:extLst>
          </p:cNvPr>
          <p:cNvSpPr>
            <a:spLocks xmlns:a="http://schemas.openxmlformats.org/drawingml/2006/main" noGrp="1"/>
          </p:cNvSpPr>
          <p:nvPr/>
        </p:nvSpPr>
        <p:spPr>
          <a:xfrm xmlns:a="http://schemas.openxmlformats.org/drawingml/2006/main">
            <a:off x="714375" y="1524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685D"/>
                </a:solidFill>
                <a:latin typeface="Arial"/>
                <a:ea typeface="Arial"/>
                <a:cs typeface="Arial"/>
              </a:defRPr>
            </a:defPPr>
            <a:lvl1pPr>
              <a:defRPr sz="2250" b="1">
                <a:solidFill>
                  <a:srgbClr val="00685D"/>
                </a:solidFill>
                <a:latin typeface="Arial"/>
                <a:ea typeface="Arial"/>
                <a:cs typeface="Arial"/>
              </a:defRPr>
            </a:lvl1pPr>
            <a:lvl2pPr>
              <a:defRPr sz="2250" b="1">
                <a:solidFill>
                  <a:srgbClr val="00685D"/>
                </a:solidFill>
                <a:latin typeface="Arial"/>
                <a:ea typeface="Arial"/>
                <a:cs typeface="Arial"/>
              </a:defRPr>
            </a:lvl2pPr>
            <a:lvl3pPr>
              <a:defRPr sz="2250" b="1">
                <a:solidFill>
                  <a:srgbClr val="00685D"/>
                </a:solidFill>
                <a:latin typeface="Arial"/>
                <a:ea typeface="Arial"/>
                <a:cs typeface="Arial"/>
              </a:defRPr>
            </a:lvl3pPr>
            <a:lvl4pPr>
              <a:defRPr sz="2250" b="1">
                <a:solidFill>
                  <a:srgbClr val="00685D"/>
                </a:solidFill>
                <a:latin typeface="Arial"/>
                <a:ea typeface="Arial"/>
                <a:cs typeface="Arial"/>
              </a:defRPr>
            </a:lvl4pPr>
            <a:lvl5pPr>
              <a:defRPr sz="2250" b="1">
                <a:solidFill>
                  <a:srgbClr val="00685D"/>
                </a:solidFill>
                <a:latin typeface="Arial"/>
                <a:ea typeface="Arial"/>
                <a:cs typeface="Arial"/>
              </a:defRPr>
            </a:lvl5pPr>
            <a:lvl6pPr>
              <a:defRPr sz="2250" b="1">
                <a:solidFill>
                  <a:srgbClr val="00685D"/>
                </a:solidFill>
                <a:latin typeface="Arial"/>
                <a:ea typeface="Arial"/>
                <a:cs typeface="Arial"/>
              </a:defRPr>
            </a:lvl6pPr>
            <a:lvl7pPr>
              <a:defRPr sz="2250" b="1">
                <a:solidFill>
                  <a:srgbClr val="00685D"/>
                </a:solidFill>
                <a:latin typeface="Arial"/>
                <a:ea typeface="Arial"/>
                <a:cs typeface="Arial"/>
              </a:defRPr>
            </a:lvl7pPr>
            <a:lvl8pPr>
              <a:defRPr sz="2250" b="1">
                <a:solidFill>
                  <a:srgbClr val="00685D"/>
                </a:solidFill>
                <a:latin typeface="Arial"/>
                <a:ea typeface="Arial"/>
                <a:cs typeface="Arial"/>
              </a:defRPr>
            </a:lvl8pPr>
            <a:lvl9pPr>
              <a:defRPr sz="2250" b="1">
                <a:solidFill>
                  <a:srgbClr val="00685D"/>
                </a:solidFill>
                <a:latin typeface="Arial"/>
                <a:ea typeface="Arial"/>
                <a:cs typeface="Arial"/>
              </a:defRPr>
            </a:lvl9pPr>
          </a:lstStyle>
          <a:p xmlns:a="http://schemas.openxmlformats.org/drawingml/2006/main">
            <a:pPr>
              <a:defRPr sz="2250" b="1">
                <a:solidFill>
                  <a:srgbClr val="00685D"/>
                </a:solidFill>
                <a:latin typeface="Arial"/>
                <a:ea typeface="Arial"/>
                <a:cs typeface="Arial"/>
              </a:defRPr>
            </a:pPr>
            <a:r>
              <a:rPr sz="2250" b="1">
                <a:solidFill>
                  <a:srgbClr val="00685D"/>
                </a:solidFill>
                <a:latin typeface="Arial"/>
                <a:ea typeface="Arial"/>
                <a:cs typeface="Arial"/>
              </a:rPr>
              <a:t>M · 45/1, 45th Cross, Jayanagara 9th Block</a:t>
            </a:r>
          </a:p>
        </p:txBody>
      </p:sp>
      <p:graphicFrame>
        <p:nvGraphicFramePr>
          <p:cNvPr id="4" name="">
            <a:extLst xmlns:a="http://schemas.openxmlformats.org/drawingml/2006/main">
              <a:ext uri="{FF2B5EF4-FFF2-40B4-BE49-F238E27FC236}">
                <a16:creationId xmlns:a16="http://schemas.microsoft.com/office/drawing/2014/main" id="{F0533D17-CD61-4898-8956-FD4BE6A7B579}"/>
              </a:ext>
            </a:extLst>
          </p:cNvPr>
          <p:cNvGraphicFramePr/>
          <p:nvPr/>
        </p:nvGraphicFramePr>
        <p:xfrm>
          <a:off xmlns:a="http://schemas.openxmlformats.org/drawingml/2006/main" x="619125" y="2428875"/>
          <a:ext xmlns:a="http://schemas.openxmlformats.org/drawingml/2006/main" cx="10953750" cy="2000250"/>
        </p:xfrm>
        <a:graphic xmlns:a="http://schemas.openxmlformats.org/drawingml/2006/main">
          <a:graphicData uri="http://schemas.openxmlformats.org/drawingml/2006/table">
            <a:tbl>
              <a:tblPr/>
              <a:tblGrid>
                <a:gridCol w="4762500"/>
                <a:gridCol w="3095625"/>
                <a:gridCol w="3095625"/>
              </a:tblGrid>
              <a:tr h="666750">
                <a:tc>
                  <a:txBody>
                    <a:bodyPr/>
                    <a:lstStyle/>
                    <a:p>
                      <a:r>
                        <a:rPr sz="1725" b="1">
                          <a:solidFill>
                            <a:srgbClr val="142B33"/>
                          </a:solidFill>
                          <a:latin typeface="Arial"/>
                          <a:ea typeface="Arial"/>
                          <a:cs typeface="Arial"/>
                        </a:rPr>
                        <a:t>Connection</a:t>
                      </a:r>
                    </a:p>
                  </a:txBody>
                  <a:tcPr marL="91440" marR="91440" marT="45720" marB="45720">
                    <a:solidFill>
                      <a:srgbClr val="E5EEEA"/>
                    </a:solidFill>
                  </a:tcPr>
                </a:tc>
                <a:tc>
                  <a:txBody>
                    <a:bodyPr/>
                    <a:lstStyle/>
                    <a:p>
                      <a:r>
                        <a:rPr sz="1725" b="1">
                          <a:solidFill>
                            <a:srgbClr val="142B33"/>
                          </a:solidFill>
                          <a:latin typeface="Arial"/>
                          <a:ea typeface="Arial"/>
                          <a:cs typeface="Arial"/>
                        </a:rPr>
                        <a:t>Distance (m)</a:t>
                      </a:r>
                    </a:p>
                  </a:txBody>
                  <a:tcPr marL="91440" marR="91440" marT="45720" marB="45720">
                    <a:solidFill>
                      <a:srgbClr val="E5EEEA"/>
                    </a:solidFill>
                  </a:tcPr>
                </a:tc>
                <a:tc>
                  <a:txBody>
                    <a:bodyPr/>
                    <a:lstStyle/>
                    <a:p>
                      <a:r>
                        <a:rPr sz="1725" b="1">
                          <a:solidFill>
                            <a:srgbClr val="142B33"/>
                          </a:solidFill>
                          <a:latin typeface="Arial"/>
                          <a:ea typeface="Arial"/>
                          <a:cs typeface="Arial"/>
                        </a:rPr>
                        <a:t>Profile minutes</a:t>
                      </a:r>
                    </a:p>
                  </a:txBody>
                  <a:tcPr marL="91440" marR="91440" marT="45720" marB="45720">
                    <a:solidFill>
                      <a:srgbClr val="E5EEEA"/>
                    </a:solidFill>
                  </a:tcPr>
                </a:tc>
              </a:tr>
              <a:tr h="666750">
                <a:tc>
                  <a:txBody>
                    <a:bodyPr/>
                    <a:lstStyle/>
                    <a:p>
                      <a:r>
                        <a:rPr sz="1725" b="0">
                          <a:solidFill>
                            <a:srgbClr val="142B33"/>
                          </a:solidFill>
                          <a:latin typeface="Arial"/>
                          <a:ea typeface="Arial"/>
                          <a:cs typeface="Arial"/>
                        </a:rPr>
                        <a:t>A to M</a:t>
                      </a:r>
                    </a:p>
                  </a:txBody>
                  <a:tcPr marL="91440" marR="91440" marT="45720" marB="45720">
                    <a:solidFill>
                      <a:srgbClr val="F8F6F0"/>
                    </a:solidFill>
                  </a:tcPr>
                </a:tc>
                <a:tc>
                  <a:txBody>
                    <a:bodyPr/>
                    <a:lstStyle/>
                    <a:p>
                      <a:r>
                        <a:rPr sz="1725" b="0">
                          <a:solidFill>
                            <a:srgbClr val="142B33"/>
                          </a:solidFill>
                          <a:latin typeface="Arial"/>
                          <a:ea typeface="Arial"/>
                          <a:cs typeface="Arial"/>
                        </a:rPr>
                        <a:t>779.5</a:t>
                      </a:r>
                    </a:p>
                  </a:txBody>
                  <a:tcPr marL="91440" marR="91440" marT="45720" marB="45720">
                    <a:solidFill>
                      <a:srgbClr val="F8F6F0"/>
                    </a:solidFill>
                  </a:tcPr>
                </a:tc>
                <a:tc>
                  <a:txBody>
                    <a:bodyPr/>
                    <a:lstStyle/>
                    <a:p>
                      <a:r>
                        <a:rPr sz="1725" b="0">
                          <a:solidFill>
                            <a:srgbClr val="142B33"/>
                          </a:solidFill>
                          <a:latin typeface="Arial"/>
                          <a:ea typeface="Arial"/>
                          <a:cs typeface="Arial"/>
                        </a:rPr>
                        <a:t>1.08</a:t>
                      </a:r>
                    </a:p>
                  </a:txBody>
                  <a:tcPr marL="91440" marR="91440" marT="45720" marB="45720">
                    <a:solidFill>
                      <a:srgbClr val="F8F6F0"/>
                    </a:solidFill>
                  </a:tcPr>
                </a:tc>
              </a:tr>
              <a:tr h="666750">
                <a:tc>
                  <a:txBody>
                    <a:bodyPr/>
                    <a:lstStyle/>
                    <a:p>
                      <a:r>
                        <a:rPr sz="1725" b="0">
                          <a:solidFill>
                            <a:srgbClr val="142B33"/>
                          </a:solidFill>
                          <a:latin typeface="Arial"/>
                          <a:ea typeface="Arial"/>
                          <a:cs typeface="Arial"/>
                        </a:rPr>
                        <a:t>Google recommended</a:t>
                      </a:r>
                    </a:p>
                  </a:txBody>
                  <a:tcPr marL="91440" marR="91440" marT="45720" marB="45720">
                    <a:solidFill>
                      <a:srgbClr val="F8F6F0"/>
                    </a:solidFill>
                  </a:tcPr>
                </a:tc>
                <a:tc>
                  <a:txBody>
                    <a:bodyPr/>
                    <a:lstStyle/>
                    <a:p>
                      <a:r>
                        <a:rPr sz="1725" b="0">
                          <a:solidFill>
                            <a:srgbClr val="142B33"/>
                          </a:solidFill>
                          <a:latin typeface="Arial"/>
                          <a:ea typeface="Arial"/>
                          <a:cs typeface="Arial"/>
                        </a:rPr>
                        <a:t>2400</a:t>
                      </a:r>
                    </a:p>
                  </a:txBody>
                  <a:tcPr marL="91440" marR="91440" marT="45720" marB="45720">
                    <a:solidFill>
                      <a:srgbClr val="F8F6F0"/>
                    </a:solidFill>
                  </a:tcPr>
                </a:tc>
                <a:tc>
                  <a:txBody>
                    <a:bodyPr/>
                    <a:lstStyle/>
                    <a:p>
                      <a:r>
                        <a:rPr sz="1725" b="0">
                          <a:solidFill>
                            <a:srgbClr val="142B33"/>
                          </a:solidFill>
                          <a:latin typeface="Arial"/>
                          <a:ea typeface="Arial"/>
                          <a:cs typeface="Arial"/>
                        </a:rPr>
                        <a:t>6.00</a:t>
                      </a:r>
                    </a:p>
                  </a:txBody>
                  <a:tcPr marL="91440" marR="91440" marT="45720" marB="45720">
                    <a:solidFill>
                      <a:srgbClr val="F8F6F0"/>
                    </a:solidFill>
                  </a:tcPr>
                </a:tc>
              </a:tr>
            </a:tbl>
          </a:graphicData>
        </a:graphic>
      </p:graphicFrame>
      <p:sp>
        <p:nvSpPr>
          <p:cNvPr id="5" name="">
            <a:extLst xmlns:a="http://schemas.openxmlformats.org/drawingml/2006/main">
              <a:ext uri="{FF2B5EF4-FFF2-40B4-BE49-F238E27FC236}">
                <a16:creationId xmlns:a16="http://schemas.microsoft.com/office/drawing/2014/main" id="{FCEC7FFE-FB0D-450B-A29A-9DF543CE5682}"/>
              </a:ext>
            </a:extLst>
          </p:cNvPr>
          <p:cNvSpPr>
            <a:spLocks xmlns:a="http://schemas.openxmlformats.org/drawingml/2006/main" noGrp="1"/>
          </p:cNvSpPr>
          <p:nvPr/>
        </p:nvSpPr>
        <p:spPr>
          <a:xfrm xmlns:a="http://schemas.openxmlformats.org/drawingml/2006/main">
            <a:off x="714375" y="4857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B33"/>
                </a:solidFill>
                <a:latin typeface="Arial"/>
                <a:ea typeface="Arial"/>
                <a:cs typeface="Arial"/>
              </a:defRPr>
            </a:defPPr>
            <a:lvl1pPr>
              <a:defRPr sz="2250" b="0">
                <a:solidFill>
                  <a:srgbClr val="142B33"/>
                </a:solidFill>
                <a:latin typeface="Arial"/>
                <a:ea typeface="Arial"/>
                <a:cs typeface="Arial"/>
              </a:defRPr>
            </a:lvl1pPr>
            <a:lvl2pPr>
              <a:defRPr sz="2250" b="0">
                <a:solidFill>
                  <a:srgbClr val="142B33"/>
                </a:solidFill>
                <a:latin typeface="Arial"/>
                <a:ea typeface="Arial"/>
                <a:cs typeface="Arial"/>
              </a:defRPr>
            </a:lvl2pPr>
            <a:lvl3pPr>
              <a:defRPr sz="2250" b="0">
                <a:solidFill>
                  <a:srgbClr val="142B33"/>
                </a:solidFill>
                <a:latin typeface="Arial"/>
                <a:ea typeface="Arial"/>
                <a:cs typeface="Arial"/>
              </a:defRPr>
            </a:lvl3pPr>
            <a:lvl4pPr>
              <a:defRPr sz="2250" b="0">
                <a:solidFill>
                  <a:srgbClr val="142B33"/>
                </a:solidFill>
                <a:latin typeface="Arial"/>
                <a:ea typeface="Arial"/>
                <a:cs typeface="Arial"/>
              </a:defRPr>
            </a:lvl4pPr>
            <a:lvl5pPr>
              <a:defRPr sz="2250" b="0">
                <a:solidFill>
                  <a:srgbClr val="142B33"/>
                </a:solidFill>
                <a:latin typeface="Arial"/>
                <a:ea typeface="Arial"/>
                <a:cs typeface="Arial"/>
              </a:defRPr>
            </a:lvl5pPr>
            <a:lvl6pPr>
              <a:defRPr sz="2250" b="0">
                <a:solidFill>
                  <a:srgbClr val="142B33"/>
                </a:solidFill>
                <a:latin typeface="Arial"/>
                <a:ea typeface="Arial"/>
                <a:cs typeface="Arial"/>
              </a:defRPr>
            </a:lvl6pPr>
            <a:lvl7pPr>
              <a:defRPr sz="2250" b="0">
                <a:solidFill>
                  <a:srgbClr val="142B33"/>
                </a:solidFill>
                <a:latin typeface="Arial"/>
                <a:ea typeface="Arial"/>
                <a:cs typeface="Arial"/>
              </a:defRPr>
            </a:lvl7pPr>
            <a:lvl8pPr>
              <a:defRPr sz="2250" b="0">
                <a:solidFill>
                  <a:srgbClr val="142B33"/>
                </a:solidFill>
                <a:latin typeface="Arial"/>
                <a:ea typeface="Arial"/>
                <a:cs typeface="Arial"/>
              </a:defRPr>
            </a:lvl8pPr>
            <a:lvl9pPr>
              <a:defRPr sz="2250" b="0">
                <a:solidFill>
                  <a:srgbClr val="142B33"/>
                </a:solidFill>
                <a:latin typeface="Arial"/>
                <a:ea typeface="Arial"/>
                <a:cs typeface="Arial"/>
              </a:defRPr>
            </a:lvl9pPr>
          </a:lstStyle>
          <a:p xmlns:a="http://schemas.openxmlformats.org/drawingml/2006/main">
            <a:pPr>
              <a:defRPr sz="2250" b="0">
                <a:solidFill>
                  <a:srgbClr val="142B33"/>
                </a:solidFill>
                <a:latin typeface="Arial"/>
                <a:ea typeface="Arial"/>
                <a:cs typeface="Arial"/>
              </a:defRPr>
            </a:pPr>
            <a:r>
              <a:rPr sz="2250" b="0">
                <a:solidFill>
                  <a:srgbClr val="142B33"/>
                </a:solidFill>
                <a:latin typeface="Arial"/>
                <a:ea typeface="Arial"/>
                <a:cs typeface="Arial"/>
              </a:rPr>
              <a:t>Green hospital node, connected to A, B and K.</a:t>
            </a:r>
          </a:p>
        </p:txBody>
      </p:sp>
      <p:sp>
        <p:nvSpPr>
          <p:cNvPr id="6" name="">
            <a:extLst xmlns:a="http://schemas.openxmlformats.org/drawingml/2006/main">
              <a:ext uri="{FF2B5EF4-FFF2-40B4-BE49-F238E27FC236}">
                <a16:creationId xmlns:a16="http://schemas.microsoft.com/office/drawing/2014/main" id="{320C794E-7B1D-4A7A-9F33-DA1785D1837A}"/>
              </a:ext>
            </a:extLst>
          </p:cNvPr>
          <p:cNvSpPr>
            <a:spLocks xmlns:a="http://schemas.openxmlformats.org/drawingml/2006/main" noGrp="1"/>
          </p:cNvSpPr>
          <p:nvPr/>
        </p:nvSpPr>
        <p:spPr>
          <a:xfrm xmlns:a="http://schemas.openxmlformats.org/drawingml/2006/main">
            <a:off x="714375"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36A"/>
                </a:solidFill>
                <a:latin typeface="Arial"/>
                <a:ea typeface="Arial"/>
                <a:cs typeface="Arial"/>
              </a:defRPr>
            </a:defPPr>
            <a:lvl1pPr>
              <a:defRPr sz="1875" b="0">
                <a:solidFill>
                  <a:srgbClr val="53636A"/>
                </a:solidFill>
                <a:latin typeface="Arial"/>
                <a:ea typeface="Arial"/>
                <a:cs typeface="Arial"/>
              </a:defRPr>
            </a:lvl1pPr>
            <a:lvl2pPr>
              <a:defRPr sz="1875" b="0">
                <a:solidFill>
                  <a:srgbClr val="53636A"/>
                </a:solidFill>
                <a:latin typeface="Arial"/>
                <a:ea typeface="Arial"/>
                <a:cs typeface="Arial"/>
              </a:defRPr>
            </a:lvl2pPr>
            <a:lvl3pPr>
              <a:defRPr sz="1875" b="0">
                <a:solidFill>
                  <a:srgbClr val="53636A"/>
                </a:solidFill>
                <a:latin typeface="Arial"/>
                <a:ea typeface="Arial"/>
                <a:cs typeface="Arial"/>
              </a:defRPr>
            </a:lvl3pPr>
            <a:lvl4pPr>
              <a:defRPr sz="1875" b="0">
                <a:solidFill>
                  <a:srgbClr val="53636A"/>
                </a:solidFill>
                <a:latin typeface="Arial"/>
                <a:ea typeface="Arial"/>
                <a:cs typeface="Arial"/>
              </a:defRPr>
            </a:lvl4pPr>
            <a:lvl5pPr>
              <a:defRPr sz="1875" b="0">
                <a:solidFill>
                  <a:srgbClr val="53636A"/>
                </a:solidFill>
                <a:latin typeface="Arial"/>
                <a:ea typeface="Arial"/>
                <a:cs typeface="Arial"/>
              </a:defRPr>
            </a:lvl5pPr>
            <a:lvl6pPr>
              <a:defRPr sz="1875" b="0">
                <a:solidFill>
                  <a:srgbClr val="53636A"/>
                </a:solidFill>
                <a:latin typeface="Arial"/>
                <a:ea typeface="Arial"/>
                <a:cs typeface="Arial"/>
              </a:defRPr>
            </a:lvl6pPr>
            <a:lvl7pPr>
              <a:defRPr sz="1875" b="0">
                <a:solidFill>
                  <a:srgbClr val="53636A"/>
                </a:solidFill>
                <a:latin typeface="Arial"/>
                <a:ea typeface="Arial"/>
                <a:cs typeface="Arial"/>
              </a:defRPr>
            </a:lvl7pPr>
            <a:lvl8pPr>
              <a:defRPr sz="1875" b="0">
                <a:solidFill>
                  <a:srgbClr val="53636A"/>
                </a:solidFill>
                <a:latin typeface="Arial"/>
                <a:ea typeface="Arial"/>
                <a:cs typeface="Arial"/>
              </a:defRPr>
            </a:lvl8pPr>
            <a:lvl9pPr>
              <a:defRPr sz="1875" b="0">
                <a:solidFill>
                  <a:srgbClr val="53636A"/>
                </a:solidFill>
                <a:latin typeface="Arial"/>
                <a:ea typeface="Arial"/>
                <a:cs typeface="Arial"/>
              </a:defRPr>
            </a:lvl9pPr>
          </a:lstStyle>
          <a:p xmlns:a="http://schemas.openxmlformats.org/drawingml/2006/main">
            <a:pPr>
              <a:defRPr sz="1875" b="0">
                <a:solidFill>
                  <a:srgbClr val="53636A"/>
                </a:solidFill>
                <a:latin typeface="Arial"/>
                <a:ea typeface="Arial"/>
                <a:cs typeface="Arial"/>
              </a:defRPr>
            </a:pPr>
            <a:r>
              <a:rPr sz="1875" b="0">
                <a:solidFill>
                  <a:srgbClr val="53636A"/>
                </a:solidFill>
                <a:latin typeface="Arial"/>
                <a:ea typeface="Arial"/>
                <a:cs typeface="Arial"/>
              </a:rPr>
              <a:t>Road-reference estimates; building entrance access is unverified.</a:t>
            </a:r>
          </a:p>
        </p:txBody>
      </p:sp>
    </p:spTree>
    <p:extLst>
      <p:ext uri="{BB962C8B-B14F-4D97-AF65-F5344CB8AC3E}">
        <p14:creationId xmlns:p14="http://schemas.microsoft.com/office/powerpoint/2010/main" val="17204577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2026-10-20T16:11:11.7420000Z</dcterms:created>
  <dcterms:modified xsi:type="dcterms:W3CDTF">2026-10-20T16:11:11.7420000Z</dcterms:modified>
</coreProperties>
</file>